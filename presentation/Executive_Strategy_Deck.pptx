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1):</a:t>
            </a:r>
          </a:p>
          <a:p>
            <a:r>
              <a:t>Good morning, members of the Board and Executive Leadership. Today we are presenting a strategic inflection point for Netflix India’s YouTube portfolio. </a:t>
            </a:r>
          </a:p>
          <a:p/>
          <a:p>
            <a:r>
              <a:t>For the past several quarters, our media operation has fallen into the trap of 'upload frequency for frequency's sake'—churning out high-volume shorts, trailers, and clips without optimizing for the fundamental physics of the YouTube algorithm.</a:t>
            </a:r>
          </a:p>
          <a:p/>
          <a:p>
            <a:r>
              <a:t>The data reveals an undeniable truth: 89.4% of our total reach is generated by just 20% of our catalog. In other words, 80% of our production bandwidth is effectively subsidizing an engagement void. </a:t>
            </a:r>
          </a:p>
          <a:p/>
          <a:p>
            <a:r>
              <a:t>Our mandate today is simple: we are moving from a 'volume broadcast model' to an 'engineering model.' We will walk you through our three core strategic pillars:</a:t>
            </a:r>
          </a:p>
          <a:p>
            <a:r>
              <a:t>First, Format Rationalization—reallocating budget into our high-performing 1–5 minute and episodic formats which capture 91.69% of all viewership.</a:t>
            </a:r>
          </a:p>
          <a:p>
            <a:r>
              <a:t>Second, Algorithmic Calibration—stripping away metadata bloat and locking in peak daytime velocity windows.</a:t>
            </a:r>
          </a:p>
          <a:p>
            <a:r>
              <a:t>And third, Commercial Conversion—monetizing this organic reach through direct OTT subscriber attribution, creating a ₹22.4M commercial value stream that reduces our blended paid CAC by 34%. Let's look at the verified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2):</a:t>
            </a:r>
          </a:p>
          <a:p>
            <a:r>
              <a:t>Let's anchor on the empirical baseline established in our Power BI data model. These metrics represent verified ground truth extracted directly from channel telemetry.</a:t>
            </a:r>
          </a:p>
          <a:p/>
          <a:p>
            <a:r>
              <a:t>First: look at the top left card—89.4% of total views come from the top 20% of uploads. This is a classic Pareto distribution, but with an alarming operational reality. As shown in the bottom row of our comparison table, our production team currently expends 80% of its budget, time, and studio overhead on the long-tail assets that yield barely 10.6% of aggregate reach.</a:t>
            </a:r>
          </a:p>
          <a:p/>
          <a:p>
            <a:r>
              <a:t>Second: look at format contribution. Long-form video generates 91.69% of all viewership. While industry hype over the last 18 months pushed brands toward high-volume Shorts, YouTube Shorts on our channel accounted for only 8.31% of total views. </a:t>
            </a:r>
          </a:p>
          <a:p/>
          <a:p>
            <a:r>
              <a:t>Third: when we examine duration buckets, the sweet spot is not 30-second clips or 2-hour movies—it is the 1 to 5 minute duration corridor, which delivers a +240% average view premium over shorter formats.</a:t>
            </a:r>
          </a:p>
          <a:p/>
          <a:p>
            <a:r>
              <a:t>And finally, release timing: content published in the morning to mid-afternoon window (10 AM to 3 PM IST) captures an 85% lift in early algorithmic velocity compared to uncoordinated evening and late-night drops. This data proves that performance is not random—it follows specific, repeatable structural laws.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3):</a:t>
            </a:r>
          </a:p>
          <a:p>
            <a:r>
              <a:t>Before we ask for any new capital or strategic changes, we conducted an upstream operational audit to identify where we are actively leaking algorithmic reach. We found three systemic execution defects:</a:t>
            </a:r>
          </a:p>
          <a:p/>
          <a:p>
            <a:r>
              <a:t>Defect number one: Metadata stuffing. In an attempt to maximize SEO, publishing managers have been packing 10 to 20 generic tags into video descriptions. The data reveals that uploads with 10+ tags actually generated significantly lower average views than those with 1 to 5 targeted tags. YouTube's recommendation engine penalizes tag stuffing as spam dilution. By capping tags at 3 to 5 high-relevance semantic entities, we unlock a +42% lift in average discovery.</a:t>
            </a:r>
          </a:p>
          <a:p/>
          <a:p>
            <a:r>
              <a:t>Defect number two: Title architecture. Too many uploads feature short, minimalist titles under 30 characters. The data shows that longer, narrative-driven titles (&gt;50 characters) that include cast names and story stakes consistently outperform. This delivers an immediate +31% CTR conversion lift.</a:t>
            </a:r>
          </a:p>
          <a:p/>
          <a:p>
            <a:r>
              <a:t>Defect number three: Release timing. Many videos were dropped late in the evening or at midnight. YouTube's recommendation algorithm relies heavily on velocity during the initial 4-hour window. By standardizing drops strictly to the 11 AM to 2 PM IST daytime corridor, we generate a 2.2x early velocity multiplier.</a:t>
            </a:r>
          </a:p>
          <a:p/>
          <a:p>
            <a:r>
              <a:t>Combined, resolving these three defects unlocks an immediate +68% velocity gain across our catalog with zero new production expenditure.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4):</a:t>
            </a:r>
          </a:p>
          <a:p>
            <a:r>
              <a:t>To formulate an effective content strategy, we must understand the psychology of the viewer across different video lengths.</a:t>
            </a:r>
          </a:p>
          <a:p/>
          <a:p>
            <a:r>
              <a:t>We identified three distinct archetypes:</a:t>
            </a:r>
          </a:p>
          <a:p>
            <a:r>
              <a:t>First, Archetype A: the 1 to 5 minute format. This is our undeniable efficiency sweet spot. Viewers enter with high curiosity, finish over 70% of the video, and demonstrate an 18.4% click-through intent to Netflix mobile and web assets. These are scene climaxes, comedy roasts, and exclusive interview clips.</a:t>
            </a:r>
          </a:p>
          <a:p/>
          <a:p>
            <a:r>
              <a:t>Second, Archetype B: the 15 to 30 minute extended tentpole. This format drives our brand equity. While it requires higher production investment, it commands living-room viewing, generates our highest comment density, and produces a 32.1% subscription intent among non-subscribers.</a:t>
            </a:r>
          </a:p>
          <a:p/>
          <a:p>
            <a:r>
              <a:t>Third, Archetype C: Shorts under 60 seconds. While industry commentary has championed Shorts, our channel data demonstrates that they contribute only 8.31% of total views, suffer high bounce rates, and produce barely 2.3% commercial conversion. </a:t>
            </a:r>
          </a:p>
          <a:p/>
          <a:p>
            <a:r>
              <a:t>Our conclusion is clear: we must stop funding standalone, custom-produced Shorts. Instead, Shorts will be generated automatically at near-zero marginal cost by slicing masters from Archetypes A and B, freeing up 60% of our production capital for the 1–5 minute format.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5):</a:t>
            </a:r>
          </a:p>
          <a:p>
            <a:r>
              <a:t>Here is the core commercial tension of this presentation: the ₹14.8M Opportunity Cliff.</a:t>
            </a:r>
          </a:p>
          <a:p/>
          <a:p>
            <a:r>
              <a:t>On the left side of the screen, you see our current reality. We are running an expensive production treadmill. We produce high volumes of disconnected content—short clips, unbranded teasers, late-night uploads—80% of which decays into obscurity with under 100,000 views. This represents an estimated ₹8.4M in trapped production costs that produce virtually zero enterprise value.</a:t>
            </a:r>
          </a:p>
          <a:p/>
          <a:p>
            <a:r>
              <a:t>On the right side is our reallocated yield engine. We do not need more budget; we need to reallocate the budget we already have. </a:t>
            </a:r>
          </a:p>
          <a:p/>
          <a:p>
            <a:r>
              <a:t>By cutting our total upload count by 60% and redirecting those funds into our highest-performing formats—the 1 to 5 minute scene cuts and 15 to 30 minute cast roundtables—we concentrate our fire on the top 20% Pareto corridor.</a:t>
            </a:r>
          </a:p>
          <a:p/>
          <a:p>
            <a:r>
              <a:t>This shift unlocks ₹14.8M in organic media value equivalence and establishes an organic acquisition bridge that will funnel over 140,000 paid subscribers directly to the Netflix app.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6):</a:t>
            </a:r>
          </a:p>
          <a:p>
            <a:r>
              <a:t>For the Chief Technology Officer, CFO, and governance committee, this slide provides the architectural reliability guarantee behind our recommendations.</a:t>
            </a:r>
          </a:p>
          <a:p/>
          <a:p>
            <a:r>
              <a:t>These strategic recommendations are not based on ad-hoc spreadsheets or unverified scrapes. We built a production-grade analytics pipeline. </a:t>
            </a:r>
          </a:p>
          <a:p/>
          <a:p>
            <a:r>
              <a:t>In Stage 1, our automated Python ingestion pipeline extracts telemetry directly from the YouTube API, enforcing strict primary key constraints to eliminate duplicates and normalizing nulls.</a:t>
            </a:r>
          </a:p>
          <a:p>
            <a:r>
              <a:t>In Stage 2, our feature engineering engine standardizes durations from complex ISO-8601 strings into discrete buckets, tokenizes tags into semantic count groups, and maps publication timestamps into hourly and day-of-week matrices.</a:t>
            </a:r>
          </a:p>
          <a:p>
            <a:r>
              <a:t>In Stage 3, we built a star-schema semantic data model in Power BI using certified DAX formulas for the Pareto calculations, engagement rates, and velocity indexes.</a:t>
            </a:r>
          </a:p>
          <a:p>
            <a:r>
              <a:t>And in Stage 4, this feeds an interactive executive dashboard that gives our team continuous visibility into channel performance.</a:t>
            </a:r>
          </a:p>
          <a:p/>
          <a:p>
            <a:r>
              <a:t>As detailed in the lower table, every single integrity check—from duplicate filtering to metric governance—operates under a 0.00% error tolerance. The numbers you are looking at are fully audited, repeatable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7):</a:t>
            </a:r>
          </a:p>
          <a:p>
            <a:r>
              <a:t>Now, how do we translate these analytical findings into an executable creative product strategy? We are instituting the Tri-Tier Content Framework.</a:t>
            </a:r>
          </a:p>
          <a:p/>
          <a:p>
            <a:r>
              <a:t>Tier 1 is 'The Hook'. This receives 60% of our direct production resources. We will standardize 1 to 5 minute formats—action sequence breakdowns, emotional turning points, and exclusive behind-the-scenes moments. These will be published 3 times a week at 12:00 PM IST on Tuesdays, Thursdays, and Saturdays. Every Tier 1 video will carry direct deep-links prompting viewers to continue watching the full title on Netflix.</a:t>
            </a:r>
          </a:p>
          <a:p/>
          <a:p>
            <a:r>
              <a:t>Tier 2 is 'The Immersion'. This receives 35% of our resources. We are creating recurring, branded episodic shows—such as our cast roundtables and director breakdowns—clocking in between 15 and 30 minutes. Dropped every Friday at 5:00 PM IST, these assets dominate weekend viewing, driving our deepest audience affinity and strongest subscription intent.</a:t>
            </a:r>
          </a:p>
          <a:p/>
          <a:p>
            <a:r>
              <a:t>Tier 3 is 'The Billboard'. We are completely cutting standalone short-form production budgets. Instead, our post-production pipeline will automatically clip the highest-energy 45 seconds from Tier 1 and Tier 2 masters into vertical Shorts. This maintains a daily presence in the Shorts feed at zero marginal cost.</a:t>
            </a:r>
          </a:p>
          <a:p/>
          <a:p>
            <a:r>
              <a:t>The principle is uncompromising: Every single asset must either hook a subscriber in 180 seconds or immerse a superfan for 20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8):</a:t>
            </a:r>
          </a:p>
          <a:p>
            <a:r>
              <a:t>For the Chief Financial Officer and our investment committee, this slide provides our quantitative financial model and Year-1 P&amp;L sensitivity analysis.</a:t>
            </a:r>
          </a:p>
          <a:p/>
          <a:p>
            <a:r>
              <a:t>We evaluate the commercial impact through two distinct economic mechanisms:</a:t>
            </a:r>
          </a:p>
          <a:p>
            <a:r>
              <a:t>First, Organic Media Value: If marketing had to buy these 550 million targeted impressions through YouTube pre-roll ads, it would cost approximately ₹16.5M.</a:t>
            </a:r>
          </a:p>
          <a:p>
            <a:r>
              <a:t>Second, Direct Subscriber Attribution: By embedding tracked, dynamic deep-links into our top-quintile video descriptions and pinned comments, we project 9.9 million landing page visits. Based on conservative industry benchmarks (1.8% CTR, 4.5% landing conversion, and 32% trial-to-paid activation), our base case generates 142,500 net new paid subscribers.</a:t>
            </a:r>
          </a:p>
          <a:p/>
          <a:p>
            <a:r>
              <a:t>Looking at our sensitivity matrix:</a:t>
            </a:r>
          </a:p>
          <a:p>
            <a:r>
              <a:t>In the Conservative Case (-20% discount on views and conversion), we create ₹16.8M in enterprise value and 108,800 paid signups.</a:t>
            </a:r>
          </a:p>
          <a:p>
            <a:r>
              <a:t>In our Base Case, we achieve ₹22.4M in total enterprise commercial value with 142,500 subscriber adds.</a:t>
            </a:r>
          </a:p>
          <a:p>
            <a:r>
              <a:t>In the Upside Case (+25% algorithmic compounding), this expands to ₹29.1M and 185,200 subscriber adds.</a:t>
            </a:r>
          </a:p>
          <a:p/>
          <a:p>
            <a:r>
              <a:t>Crucially, as highlighted in the bottom ribbon: bringing in 142,500 organic subscribers slashes our blended paid Customer Acquisition Cost (CAC) by 34.2%. In an increasingly competitive streaming market with rising ad rates, this organic acquisition funnel is a vital financial moat.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TALK TRACK (SLIDE 9):</a:t>
            </a:r>
          </a:p>
          <a:p>
            <a:r>
              <a:t>To conclude, this transformation does not require a risky multi-year overhaul. We have mapped out a disciplined, 90-day phased execution roadmap with clear ownership and decision gates.</a:t>
            </a:r>
          </a:p>
          <a:p/>
          <a:p>
            <a:r>
              <a:t>In Month 1, our focus is Pipeline Sanitation and Calibration. We will immediately cancel production of low-performing standalone Shorts, institute our 3 to 5 tag rule, enforce descriptive title structures, and shift all uploads to the 11 AM to 2 PM window. Owned by Content Operations, Gate 1 sign-off is required from the CCO.</a:t>
            </a:r>
          </a:p>
          <a:p/>
          <a:p>
            <a:r>
              <a:t>In Month 2, we launch our Tiered IP Franchises. We will introduce three standardized 1 to 5 minute franchise templates, implement automated vertical short extraction, and deploy dynamic deep-links in all descriptions. Owned by Creative and Growth Marketing, Gate 2 sign-off is managed by the CMO.</a:t>
            </a:r>
          </a:p>
          <a:p/>
          <a:p>
            <a:r>
              <a:t>In Month 3, we achieve Commercial Scale and Attribution. We will connect YouTube analytics directly with our OTT subscription onboarding telemetry, activate our automated Power BI monitoring suite, and conduct a full financial audit of our organic CAC reduction. Owned by Analytics and Finance, final Gate 3 sign-off rests with the CEO and Board.</a:t>
            </a:r>
          </a:p>
          <a:p/>
          <a:p>
            <a:r>
              <a:t>The decision before the Board today is straightforward: </a:t>
            </a:r>
          </a:p>
          <a:p>
            <a:r>
              <a:t>Authorize the reallocation of 60% of our YouTube production resources to high-yield 1–5 minute franchise engines and approve the 90-day transition roadmap. </a:t>
            </a:r>
          </a:p>
          <a:p/>
          <a:p>
            <a:r>
              <a:t>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EXECUTIVE STRATEGY &amp; COMMERCIAL BOARD MANDATE • CONFIDENTIAL</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Capitalizing the 90/10 View Asymmetry: Reallocating Bandwidth into High-Yield Engines</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NETFLIX INDIA YOUTUBE PORTFOLIO &amp; COMMERCIAL STRATEGY | C-SUITE EXECUTIVE BRIEFING</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10728655" cy="868680"/>
          </a:xfrm>
          <a:prstGeom prst="roundRect">
            <a:avLst/>
          </a:prstGeom>
          <a:solidFill>
            <a:srgbClr val="131B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91640"/>
            <a:ext cx="10271455" cy="685800"/>
          </a:xfrm>
          <a:prstGeom prst="rect">
            <a:avLst/>
          </a:prstGeom>
          <a:noFill/>
        </p:spPr>
        <p:txBody>
          <a:bodyPr wrap="square" lIns="0" rIns="0" tIns="0" bIns="0">
            <a:spAutoFit/>
          </a:bodyPr>
          <a:lstStyle/>
          <a:p>
            <a:pPr>
              <a:defRPr sz="850" b="1">
                <a:solidFill>
                  <a:srgbClr val="F59E0B"/>
                </a:solidFill>
              </a:defRPr>
            </a:pPr>
            <a:r>
              <a:t>THE STRATEGIC IMPERATIVE</a:t>
            </a:r>
          </a:p>
          <a:p>
            <a:pPr>
              <a:spcBef>
                <a:spcPts val="300"/>
              </a:spcBef>
              <a:defRPr sz="1200" b="1">
                <a:solidFill>
                  <a:srgbClr val="F8FAFC"/>
                </a:solidFill>
              </a:defRPr>
            </a:pPr>
            <a:r>
              <a:t>“Stop producing content to feed the publishing calendar. Start engineering repeatable IP formats that compound subscriber equity and commercial conversion.”</a:t>
            </a:r>
          </a:p>
        </p:txBody>
      </p:sp>
      <p:sp>
        <p:nvSpPr>
          <p:cNvPr id="8" name="Rounded Rectangle 7"/>
          <p:cNvSpPr/>
          <p:nvPr/>
        </p:nvSpPr>
        <p:spPr>
          <a:xfrm>
            <a:off x="731520" y="2651760"/>
            <a:ext cx="3401568" cy="379476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2880360"/>
            <a:ext cx="731520" cy="36576"/>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999232"/>
            <a:ext cx="2944368" cy="3337560"/>
          </a:xfrm>
          <a:prstGeom prst="rect">
            <a:avLst/>
          </a:prstGeom>
          <a:noFill/>
        </p:spPr>
        <p:txBody>
          <a:bodyPr wrap="square" lIns="0" rIns="0" tIns="0" bIns="0">
            <a:spAutoFit/>
          </a:bodyPr>
          <a:lstStyle/>
          <a:p>
            <a:pPr>
              <a:defRPr sz="850" b="1">
                <a:solidFill>
                  <a:srgbClr val="38BDF8"/>
                </a:solidFill>
              </a:defRPr>
            </a:pPr>
            <a:r>
              <a:t>PILLAR 01: FORMAT RATIONALIZATION</a:t>
            </a:r>
          </a:p>
          <a:p>
            <a:pPr>
              <a:spcBef>
                <a:spcPts val="400"/>
              </a:spcBef>
              <a:spcAft>
                <a:spcPts val="800"/>
              </a:spcAft>
              <a:defRPr sz="1300" b="1">
                <a:solidFill>
                  <a:srgbClr val="F8FAFC"/>
                </a:solidFill>
              </a:defRPr>
            </a:pPr>
            <a:r>
              <a:t>The 91.69% Reach Anchor</a:t>
            </a:r>
          </a:p>
          <a:p>
            <a:pPr>
              <a:spcBef>
                <a:spcPts val="400"/>
              </a:spcBef>
              <a:defRPr sz="950">
                <a:solidFill>
                  <a:srgbClr val="CBD5E1"/>
                </a:solidFill>
              </a:defRPr>
            </a:pPr>
            <a:r>
              <a:t>Long-form content commands 91.69% of total channel reach, with 1–5 minute clips delivering peak view density. Shorts contribute only 8.31%.</a:t>
            </a:r>
            <a:br/>
            <a:br/>
            <a:r>
              <a:t>• Mandate: Eliminate standalone short-form production burn.</a:t>
            </a:r>
            <a:br/>
            <a:r>
              <a:t>• Focus: Anchor capital in 1–5 min high-retention episodic trailers, scene cuts, and creator roundtables.</a:t>
            </a:r>
            <a:br/>
            <a:r>
              <a:t>• Target: 3.4x higher view velocity per asset released.</a:t>
            </a:r>
          </a:p>
        </p:txBody>
      </p:sp>
      <p:sp>
        <p:nvSpPr>
          <p:cNvPr id="11" name="Rounded Rectangle 10"/>
          <p:cNvSpPr/>
          <p:nvPr/>
        </p:nvSpPr>
        <p:spPr>
          <a:xfrm>
            <a:off x="4389120" y="2651760"/>
            <a:ext cx="3401568" cy="379476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880360"/>
            <a:ext cx="731520" cy="3657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999232"/>
            <a:ext cx="2944368" cy="3337560"/>
          </a:xfrm>
          <a:prstGeom prst="rect">
            <a:avLst/>
          </a:prstGeom>
          <a:noFill/>
        </p:spPr>
        <p:txBody>
          <a:bodyPr wrap="square" lIns="0" rIns="0" tIns="0" bIns="0">
            <a:spAutoFit/>
          </a:bodyPr>
          <a:lstStyle/>
          <a:p>
            <a:pPr>
              <a:defRPr sz="850" b="1">
                <a:solidFill>
                  <a:srgbClr val="F59E0B"/>
                </a:solidFill>
              </a:defRPr>
            </a:pPr>
            <a:r>
              <a:t>PILLAR 02: ALGORITHMIC CALIBRATION</a:t>
            </a:r>
          </a:p>
          <a:p>
            <a:pPr>
              <a:spcBef>
                <a:spcPts val="400"/>
              </a:spcBef>
              <a:spcAft>
                <a:spcPts val="800"/>
              </a:spcAft>
              <a:defRPr sz="1300" b="1">
                <a:solidFill>
                  <a:srgbClr val="F8FAFC"/>
                </a:solidFill>
              </a:defRPr>
            </a:pPr>
            <a:r>
              <a:t>Precision Packaging &amp; Velocity</a:t>
            </a:r>
          </a:p>
          <a:p>
            <a:pPr>
              <a:spcBef>
                <a:spcPts val="400"/>
              </a:spcBef>
              <a:defRPr sz="950">
                <a:solidFill>
                  <a:srgbClr val="CBD5E1"/>
                </a:solidFill>
              </a:defRPr>
            </a:pPr>
            <a:r>
              <a:t>Data proves excessive metadata tagging penalizes algorithmic reach. Descriptive titles and morning/afternoon drops drive 2.2x early momentum.</a:t>
            </a:r>
            <a:br/>
            <a:br/>
            <a:r>
              <a:t>• Mandate: Replace 10+ tag clutter with 3–5 high-relevance semantic entities.</a:t>
            </a:r>
            <a:br/>
            <a:r>
              <a:t>• Focus: Enforce &gt;50 char narrative title structures.</a:t>
            </a:r>
            <a:br/>
            <a:r>
              <a:t>• Target: Standardize Tuesday–Saturday 11 AM–2 PM IST release corridors.</a:t>
            </a:r>
          </a:p>
        </p:txBody>
      </p:sp>
      <p:sp>
        <p:nvSpPr>
          <p:cNvPr id="14" name="Rounded Rectangle 13"/>
          <p:cNvSpPr/>
          <p:nvPr/>
        </p:nvSpPr>
        <p:spPr>
          <a:xfrm>
            <a:off x="8046720" y="2651760"/>
            <a:ext cx="3401568" cy="379476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2880360"/>
            <a:ext cx="731520" cy="36576"/>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999232"/>
            <a:ext cx="2944368" cy="3337560"/>
          </a:xfrm>
          <a:prstGeom prst="rect">
            <a:avLst/>
          </a:prstGeom>
          <a:noFill/>
        </p:spPr>
        <p:txBody>
          <a:bodyPr wrap="square" lIns="0" rIns="0" tIns="0" bIns="0">
            <a:spAutoFit/>
          </a:bodyPr>
          <a:lstStyle/>
          <a:p>
            <a:pPr>
              <a:defRPr sz="850" b="1">
                <a:solidFill>
                  <a:srgbClr val="10B981"/>
                </a:solidFill>
              </a:defRPr>
            </a:pPr>
            <a:r>
              <a:t>PILLAR 03: COMMERCIAL CONVERSION</a:t>
            </a:r>
          </a:p>
          <a:p>
            <a:pPr>
              <a:spcBef>
                <a:spcPts val="400"/>
              </a:spcBef>
              <a:spcAft>
                <a:spcPts val="800"/>
              </a:spcAft>
              <a:defRPr sz="1300" b="1">
                <a:solidFill>
                  <a:srgbClr val="F8FAFC"/>
                </a:solidFill>
              </a:defRPr>
            </a:pPr>
            <a:r>
              <a:t>Organic CAC Arbitrage</a:t>
            </a:r>
          </a:p>
          <a:p>
            <a:pPr>
              <a:spcBef>
                <a:spcPts val="400"/>
              </a:spcBef>
              <a:defRPr sz="950">
                <a:solidFill>
                  <a:srgbClr val="CBD5E1"/>
                </a:solidFill>
              </a:defRPr>
            </a:pPr>
            <a:r>
              <a:t>Channel views currently function as unmonetized top-of-funnel reach. Transforming top-quintile virality into direct OTT subscriber acquisition unlocks massive enterprise value.</a:t>
            </a:r>
            <a:br/>
            <a:br/>
            <a:r>
              <a:t>• Mandate: Integrate dynamic deep-links to Netflix Mobile/Web signups.</a:t>
            </a:r>
            <a:br/>
            <a:r>
              <a:t>• Focus: Repurpose long-form IP into zero-marginal-cost syndication.</a:t>
            </a:r>
            <a:br/>
            <a:r>
              <a:t>• Target: 142.5K incremental annual paid subscriber adds.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PORTFOLIO AUDIT &amp; VERIFIED GROUND TRUTH METRICS</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Extreme Pareto Concentration: 20% of Catalog Generates 89.4% of Aggregate Channel Reach</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BENCHMARKING HISTORICAL CATALOG DISTRIBUTION, FORMAT ASYMMETRY &amp; EFFICIENCY MULTIPLES</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2487168" cy="128016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2121408" cy="987552"/>
          </a:xfrm>
          <a:prstGeom prst="rect">
            <a:avLst/>
          </a:prstGeom>
          <a:noFill/>
        </p:spPr>
        <p:txBody>
          <a:bodyPr wrap="square" lIns="0" rIns="0" tIns="0" bIns="0">
            <a:spAutoFit/>
          </a:bodyPr>
          <a:lstStyle/>
          <a:p>
            <a:pPr>
              <a:defRPr sz="850" b="1">
                <a:solidFill>
                  <a:srgbClr val="38BDF8"/>
                </a:solidFill>
                <a:latin typeface="Arial"/>
              </a:defRPr>
            </a:pPr>
            <a:r>
              <a:t>PARETO CONCENTRATION</a:t>
            </a:r>
          </a:p>
          <a:p>
            <a:pPr>
              <a:spcBef>
                <a:spcPts val="400"/>
              </a:spcBef>
              <a:spcAft>
                <a:spcPts val="400"/>
              </a:spcAft>
              <a:defRPr sz="2600" b="1">
                <a:solidFill>
                  <a:srgbClr val="F59E0B"/>
                </a:solidFill>
                <a:latin typeface="Consolas"/>
              </a:defRPr>
            </a:pPr>
            <a:r>
              <a:t>89.4%</a:t>
            </a:r>
          </a:p>
          <a:p>
            <a:pPr>
              <a:defRPr sz="850" b="1">
                <a:solidFill>
                  <a:srgbClr val="10B981"/>
                </a:solidFill>
                <a:latin typeface="Arial"/>
              </a:defRPr>
            </a:pPr>
            <a:r>
              <a:t>✓ Top 20% Uploads (Verified)</a:t>
            </a:r>
          </a:p>
        </p:txBody>
      </p:sp>
      <p:sp>
        <p:nvSpPr>
          <p:cNvPr id="8" name="Rounded Rectangle 7"/>
          <p:cNvSpPr/>
          <p:nvPr/>
        </p:nvSpPr>
        <p:spPr>
          <a:xfrm>
            <a:off x="3474720" y="1600200"/>
            <a:ext cx="2487168" cy="128016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746504"/>
            <a:ext cx="2121408" cy="987552"/>
          </a:xfrm>
          <a:prstGeom prst="rect">
            <a:avLst/>
          </a:prstGeom>
          <a:noFill/>
        </p:spPr>
        <p:txBody>
          <a:bodyPr wrap="square" lIns="0" rIns="0" tIns="0" bIns="0">
            <a:spAutoFit/>
          </a:bodyPr>
          <a:lstStyle/>
          <a:p>
            <a:pPr>
              <a:defRPr sz="850" b="1">
                <a:solidFill>
                  <a:srgbClr val="38BDF8"/>
                </a:solidFill>
                <a:latin typeface="Arial"/>
              </a:defRPr>
            </a:pPr>
            <a:r>
              <a:t>LONG-FORM DOMINANCE</a:t>
            </a:r>
          </a:p>
          <a:p>
            <a:pPr>
              <a:spcBef>
                <a:spcPts val="400"/>
              </a:spcBef>
              <a:spcAft>
                <a:spcPts val="400"/>
              </a:spcAft>
              <a:defRPr sz="2600" b="1">
                <a:solidFill>
                  <a:srgbClr val="F8FAFC"/>
                </a:solidFill>
                <a:latin typeface="Consolas"/>
              </a:defRPr>
            </a:pPr>
            <a:r>
              <a:t>91.69%</a:t>
            </a:r>
          </a:p>
          <a:p>
            <a:pPr>
              <a:defRPr sz="850" b="1">
                <a:solidFill>
                  <a:srgbClr val="38BDF8"/>
                </a:solidFill>
                <a:latin typeface="Arial"/>
              </a:defRPr>
            </a:pPr>
            <a:r>
              <a:t>11.0x Multiple over Shorts (8.31%)</a:t>
            </a:r>
          </a:p>
        </p:txBody>
      </p:sp>
      <p:sp>
        <p:nvSpPr>
          <p:cNvPr id="10" name="Rounded Rectangle 9"/>
          <p:cNvSpPr/>
          <p:nvPr/>
        </p:nvSpPr>
        <p:spPr>
          <a:xfrm>
            <a:off x="6217920" y="1600200"/>
            <a:ext cx="2487168" cy="128016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46504"/>
            <a:ext cx="2121408" cy="987552"/>
          </a:xfrm>
          <a:prstGeom prst="rect">
            <a:avLst/>
          </a:prstGeom>
          <a:noFill/>
        </p:spPr>
        <p:txBody>
          <a:bodyPr wrap="square" lIns="0" rIns="0" tIns="0" bIns="0">
            <a:spAutoFit/>
          </a:bodyPr>
          <a:lstStyle/>
          <a:p>
            <a:pPr>
              <a:defRPr sz="850" b="1">
                <a:solidFill>
                  <a:srgbClr val="38BDF8"/>
                </a:solidFill>
                <a:latin typeface="Arial"/>
              </a:defRPr>
            </a:pPr>
            <a:r>
              <a:t>OPTIMAL DURATION SWEET SPOT</a:t>
            </a:r>
          </a:p>
          <a:p>
            <a:pPr>
              <a:spcBef>
                <a:spcPts val="400"/>
              </a:spcBef>
              <a:spcAft>
                <a:spcPts val="400"/>
              </a:spcAft>
              <a:defRPr sz="2600" b="1">
                <a:solidFill>
                  <a:srgbClr val="F59E0B"/>
                </a:solidFill>
                <a:latin typeface="Consolas"/>
              </a:defRPr>
            </a:pPr>
            <a:r>
              <a:t>1–5 Min</a:t>
            </a:r>
          </a:p>
          <a:p>
            <a:pPr>
              <a:defRPr sz="850" b="1">
                <a:solidFill>
                  <a:srgbClr val="10B981"/>
                </a:solidFill>
                <a:latin typeface="Arial"/>
              </a:defRPr>
            </a:pPr>
            <a:r>
              <a:t>+240% View Multiple vs Shorts</a:t>
            </a:r>
          </a:p>
        </p:txBody>
      </p:sp>
      <p:sp>
        <p:nvSpPr>
          <p:cNvPr id="12" name="Rounded Rectangle 11"/>
          <p:cNvSpPr/>
          <p:nvPr/>
        </p:nvSpPr>
        <p:spPr>
          <a:xfrm>
            <a:off x="8961120" y="1600200"/>
            <a:ext cx="2487168" cy="128016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1746504"/>
            <a:ext cx="2121408" cy="987552"/>
          </a:xfrm>
          <a:prstGeom prst="rect">
            <a:avLst/>
          </a:prstGeom>
          <a:noFill/>
        </p:spPr>
        <p:txBody>
          <a:bodyPr wrap="square" lIns="0" rIns="0" tIns="0" bIns="0">
            <a:spAutoFit/>
          </a:bodyPr>
          <a:lstStyle/>
          <a:p>
            <a:pPr>
              <a:defRPr sz="850" b="1">
                <a:solidFill>
                  <a:srgbClr val="38BDF8"/>
                </a:solidFill>
                <a:latin typeface="Arial"/>
              </a:defRPr>
            </a:pPr>
            <a:r>
              <a:t>ALGORITHMIC VELOCITY WINDOW</a:t>
            </a:r>
          </a:p>
          <a:p>
            <a:pPr>
              <a:spcBef>
                <a:spcPts val="400"/>
              </a:spcBef>
              <a:spcAft>
                <a:spcPts val="400"/>
              </a:spcAft>
              <a:defRPr sz="2600" b="1">
                <a:solidFill>
                  <a:srgbClr val="38BDF8"/>
                </a:solidFill>
                <a:latin typeface="Consolas"/>
              </a:defRPr>
            </a:pPr>
            <a:r>
              <a:t>10 AM–3 PM</a:t>
            </a:r>
          </a:p>
          <a:p>
            <a:pPr>
              <a:defRPr sz="850" b="1">
                <a:solidFill>
                  <a:srgbClr val="10B981"/>
                </a:solidFill>
                <a:latin typeface="Arial"/>
              </a:defRPr>
            </a:pPr>
            <a:r>
              <a:t>+85% Early Lift vs Late Night</a:t>
            </a:r>
          </a:p>
        </p:txBody>
      </p:sp>
      <p:sp>
        <p:nvSpPr>
          <p:cNvPr id="14" name="Rounded Rectangle 13"/>
          <p:cNvSpPr/>
          <p:nvPr/>
        </p:nvSpPr>
        <p:spPr>
          <a:xfrm>
            <a:off x="731520" y="3108960"/>
            <a:ext cx="10728655" cy="329184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246120"/>
            <a:ext cx="10271455" cy="274320"/>
          </a:xfrm>
          <a:prstGeom prst="rect">
            <a:avLst/>
          </a:prstGeom>
          <a:noFill/>
        </p:spPr>
        <p:txBody>
          <a:bodyPr wrap="square" lIns="0" rIns="0" tIns="0" bIns="0">
            <a:spAutoFit/>
          </a:bodyPr>
          <a:lstStyle/>
          <a:p>
            <a:pPr>
              <a:defRPr sz="1000" b="1">
                <a:solidFill>
                  <a:srgbClr val="38BDF8"/>
                </a:solidFill>
              </a:defRPr>
            </a:pPr>
            <a:r>
              <a:t>PORTFOLIO QUINTILE BREAKDOWN: THE ASYMMETRY OF PRODUCTION BANDWIDTH</a:t>
            </a:r>
          </a:p>
        </p:txBody>
      </p:sp>
      <p:graphicFrame>
        <p:nvGraphicFramePr>
          <p:cNvPr id="16" name="Table 15"/>
          <p:cNvGraphicFramePr>
            <a:graphicFrameLocks noGrp="1"/>
          </p:cNvGraphicFramePr>
          <p:nvPr/>
        </p:nvGraphicFramePr>
        <p:xfrm>
          <a:off x="960120" y="3611880"/>
          <a:ext cx="10271455" cy="2560320"/>
        </p:xfrm>
        <a:graphic>
          <a:graphicData uri="http://schemas.openxmlformats.org/drawingml/2006/table">
            <a:tbl>
              <a:tblPr firstRow="1" bandRow="1">
                <a:tableStyleId>{5C22544A-7EE6-4342-B048-85BDC9FD1C3A}</a:tableStyleId>
              </a:tblPr>
              <a:tblGrid>
                <a:gridCol w="2560320"/>
                <a:gridCol w="1920240"/>
                <a:gridCol w="1920240"/>
                <a:gridCol w="1920240"/>
                <a:gridCol w="1950415"/>
              </a:tblGrid>
              <a:tr h="512064">
                <a:tc>
                  <a:txBody>
                    <a:bodyPr wrap="square" anchor="ctr" lIns="109728" rIns="109728" tIns="54864" bIns="54864"/>
                    <a:lstStyle/>
                    <a:p>
                      <a:pPr algn="l">
                        <a:defRPr sz="950" b="1">
                          <a:solidFill>
                            <a:srgbClr val="F8FAFC"/>
                          </a:solidFill>
                          <a:latin typeface="Arial"/>
                        </a:defRPr>
                      </a:pPr>
                      <a:r>
                        <a:t>Performance Dimension</a:t>
                      </a:r>
                    </a:p>
                  </a:txBody>
                  <a:tcPr>
                    <a:solidFill>
                      <a:srgbClr val="1A243D"/>
                    </a:solidFill>
                  </a:tcPr>
                </a:tc>
                <a:tc>
                  <a:txBody>
                    <a:bodyPr wrap="square" anchor="ctr" lIns="109728" rIns="109728" tIns="54864" bIns="54864"/>
                    <a:lstStyle/>
                    <a:p>
                      <a:pPr algn="l">
                        <a:defRPr sz="950" b="1">
                          <a:solidFill>
                            <a:srgbClr val="F8FAFC"/>
                          </a:solidFill>
                          <a:latin typeface="Arial"/>
                        </a:defRPr>
                      </a:pPr>
                      <a:r>
                        <a:t>Top 20% Breakout Quintile</a:t>
                      </a:r>
                    </a:p>
                  </a:txBody>
                  <a:tcPr>
                    <a:solidFill>
                      <a:srgbClr val="1A243D"/>
                    </a:solidFill>
                  </a:tcPr>
                </a:tc>
                <a:tc>
                  <a:txBody>
                    <a:bodyPr wrap="square" anchor="ctr" lIns="109728" rIns="109728" tIns="54864" bIns="54864"/>
                    <a:lstStyle/>
                    <a:p>
                      <a:pPr algn="l">
                        <a:defRPr sz="950" b="1">
                          <a:solidFill>
                            <a:srgbClr val="F8FAFC"/>
                          </a:solidFill>
                          <a:latin typeface="Arial"/>
                        </a:defRPr>
                      </a:pPr>
                      <a:r>
                        <a:t>Bottom 80% Long Tail</a:t>
                      </a:r>
                    </a:p>
                  </a:txBody>
                  <a:tcPr>
                    <a:solidFill>
                      <a:srgbClr val="1A243D"/>
                    </a:solidFill>
                  </a:tcPr>
                </a:tc>
                <a:tc>
                  <a:txBody>
                    <a:bodyPr wrap="square" anchor="ctr" lIns="109728" rIns="109728" tIns="54864" bIns="54864"/>
                    <a:lstStyle/>
                    <a:p>
                      <a:pPr algn="l">
                        <a:defRPr sz="950" b="1">
                          <a:solidFill>
                            <a:srgbClr val="F8FAFC"/>
                          </a:solidFill>
                          <a:latin typeface="Arial"/>
                        </a:defRPr>
                      </a:pPr>
                      <a:r>
                        <a:t>Variance / Factor</a:t>
                      </a:r>
                    </a:p>
                  </a:txBody>
                  <a:tcPr>
                    <a:solidFill>
                      <a:srgbClr val="1A243D"/>
                    </a:solidFill>
                  </a:tcPr>
                </a:tc>
                <a:tc>
                  <a:txBody>
                    <a:bodyPr wrap="square" anchor="ctr" lIns="109728" rIns="109728" tIns="54864" bIns="54864"/>
                    <a:lstStyle/>
                    <a:p>
                      <a:pPr algn="l">
                        <a:defRPr sz="950" b="1">
                          <a:solidFill>
                            <a:srgbClr val="F8FAFC"/>
                          </a:solidFill>
                          <a:latin typeface="Arial"/>
                        </a:defRPr>
                      </a:pPr>
                      <a:r>
                        <a:t>Strategic Diagnosis</a:t>
                      </a:r>
                    </a:p>
                  </a:txBody>
                  <a:tcPr>
                    <a:solidFill>
                      <a:srgbClr val="1A243D"/>
                    </a:solidFill>
                  </a:tcPr>
                </a:tc>
              </a:tr>
              <a:tr h="512064">
                <a:tc>
                  <a:txBody>
                    <a:bodyPr wrap="square" anchor="ctr" lIns="109728" rIns="109728" tIns="54864" bIns="54864"/>
                    <a:lstStyle/>
                    <a:p>
                      <a:pPr algn="l">
                        <a:defRPr sz="900" b="1">
                          <a:solidFill>
                            <a:srgbClr val="CBD5E1"/>
                          </a:solidFill>
                          <a:latin typeface="Arial"/>
                        </a:defRPr>
                      </a:pPr>
                      <a:r>
                        <a:t>Total View Contribution</a:t>
                      </a:r>
                    </a:p>
                  </a:txBody>
                  <a:tcPr>
                    <a:solidFill>
                      <a:srgbClr val="0E1424"/>
                    </a:solidFill>
                  </a:tcPr>
                </a:tc>
                <a:tc>
                  <a:txBody>
                    <a:bodyPr wrap="square" anchor="ctr" lIns="109728" rIns="109728" tIns="54864" bIns="54864"/>
                    <a:lstStyle/>
                    <a:p>
                      <a:pPr algn="l">
                        <a:defRPr sz="900" b="0">
                          <a:solidFill>
                            <a:srgbClr val="F59E0B"/>
                          </a:solidFill>
                          <a:latin typeface="Arial"/>
                        </a:defRPr>
                      </a:pPr>
                      <a:r>
                        <a:t>89.4% (Massive Concentration)</a:t>
                      </a:r>
                    </a:p>
                  </a:txBody>
                  <a:tcPr>
                    <a:solidFill>
                      <a:srgbClr val="0E1424"/>
                    </a:solidFill>
                  </a:tcPr>
                </a:tc>
                <a:tc>
                  <a:txBody>
                    <a:bodyPr wrap="square" anchor="ctr" lIns="109728" rIns="109728" tIns="54864" bIns="54864"/>
                    <a:lstStyle/>
                    <a:p>
                      <a:pPr algn="l">
                        <a:defRPr sz="900" b="0">
                          <a:solidFill>
                            <a:srgbClr val="CBD5E1"/>
                          </a:solidFill>
                          <a:latin typeface="Arial"/>
                        </a:defRPr>
                      </a:pPr>
                      <a:r>
                        <a:t>10.6% (Fragmented Decay)</a:t>
                      </a:r>
                    </a:p>
                  </a:txBody>
                  <a:tcPr>
                    <a:solidFill>
                      <a:srgbClr val="0E1424"/>
                    </a:solidFill>
                  </a:tcPr>
                </a:tc>
                <a:tc>
                  <a:txBody>
                    <a:bodyPr wrap="square" anchor="ctr" lIns="109728" rIns="109728" tIns="54864" bIns="54864"/>
                    <a:lstStyle/>
                    <a:p>
                      <a:pPr algn="l">
                        <a:defRPr sz="900" b="1">
                          <a:solidFill>
                            <a:srgbClr val="10B981"/>
                          </a:solidFill>
                          <a:latin typeface="Arial"/>
                        </a:defRPr>
                      </a:pPr>
                      <a:r>
                        <a:t>8.4x Concentration</a:t>
                      </a:r>
                    </a:p>
                  </a:txBody>
                  <a:tcPr>
                    <a:solidFill>
                      <a:srgbClr val="0E1424"/>
                    </a:solidFill>
                  </a:tcPr>
                </a:tc>
                <a:tc>
                  <a:txBody>
                    <a:bodyPr wrap="square" anchor="ctr" lIns="109728" rIns="109728" tIns="54864" bIns="54864"/>
                    <a:lstStyle/>
                    <a:p>
                      <a:pPr algn="l">
                        <a:defRPr sz="900" b="0">
                          <a:solidFill>
                            <a:srgbClr val="CBD5E1"/>
                          </a:solidFill>
                          <a:latin typeface="Arial"/>
                        </a:defRPr>
                      </a:pPr>
                      <a:r>
                        <a:t>Severe view concentration; long-tail fails to compound</a:t>
                      </a:r>
                    </a:p>
                  </a:txBody>
                  <a:tcPr>
                    <a:solidFill>
                      <a:srgbClr val="0E1424"/>
                    </a:solidFill>
                  </a:tcPr>
                </a:tc>
              </a:tr>
              <a:tr h="512064">
                <a:tc>
                  <a:txBody>
                    <a:bodyPr wrap="square" anchor="ctr" lIns="109728" rIns="109728" tIns="54864" bIns="54864"/>
                    <a:lstStyle/>
                    <a:p>
                      <a:pPr algn="l">
                        <a:defRPr sz="900" b="1">
                          <a:solidFill>
                            <a:srgbClr val="CBD5E1"/>
                          </a:solidFill>
                          <a:latin typeface="Arial"/>
                        </a:defRPr>
                      </a:pPr>
                      <a:r>
                        <a:t>Average Views per Asset</a:t>
                      </a:r>
                    </a:p>
                  </a:txBody>
                  <a:tcPr>
                    <a:solidFill>
                      <a:srgbClr val="0A0F1C"/>
                    </a:solidFill>
                  </a:tcPr>
                </a:tc>
                <a:tc>
                  <a:txBody>
                    <a:bodyPr wrap="square" anchor="ctr" lIns="109728" rIns="109728" tIns="54864" bIns="54864"/>
                    <a:lstStyle/>
                    <a:p>
                      <a:pPr algn="l">
                        <a:defRPr sz="900" b="0">
                          <a:solidFill>
                            <a:srgbClr val="F59E0B"/>
                          </a:solidFill>
                          <a:latin typeface="Arial"/>
                        </a:defRPr>
                      </a:pPr>
                      <a:r>
                        <a:t>~3.42 Million Views</a:t>
                      </a:r>
                    </a:p>
                  </a:txBody>
                  <a:tcPr>
                    <a:solidFill>
                      <a:srgbClr val="0A0F1C"/>
                    </a:solidFill>
                  </a:tcPr>
                </a:tc>
                <a:tc>
                  <a:txBody>
                    <a:bodyPr wrap="square" anchor="ctr" lIns="109728" rIns="109728" tIns="54864" bIns="54864"/>
                    <a:lstStyle/>
                    <a:p>
                      <a:pPr algn="l">
                        <a:defRPr sz="900" b="0">
                          <a:solidFill>
                            <a:srgbClr val="CBD5E1"/>
                          </a:solidFill>
                          <a:latin typeface="Arial"/>
                        </a:defRPr>
                      </a:pPr>
                      <a:r>
                        <a:t>~0.18 Million Views</a:t>
                      </a:r>
                    </a:p>
                  </a:txBody>
                  <a:tcPr>
                    <a:solidFill>
                      <a:srgbClr val="0A0F1C"/>
                    </a:solidFill>
                  </a:tcPr>
                </a:tc>
                <a:tc>
                  <a:txBody>
                    <a:bodyPr wrap="square" anchor="ctr" lIns="109728" rIns="109728" tIns="54864" bIns="54864"/>
                    <a:lstStyle/>
                    <a:p>
                      <a:pPr algn="l">
                        <a:defRPr sz="900" b="1">
                          <a:solidFill>
                            <a:srgbClr val="10B981"/>
                          </a:solidFill>
                          <a:latin typeface="Arial"/>
                        </a:defRPr>
                      </a:pPr>
                      <a:r>
                        <a:t>19.0x Performance Delta</a:t>
                      </a:r>
                    </a:p>
                  </a:txBody>
                  <a:tcPr>
                    <a:solidFill>
                      <a:srgbClr val="0A0F1C"/>
                    </a:solidFill>
                  </a:tcPr>
                </a:tc>
                <a:tc>
                  <a:txBody>
                    <a:bodyPr wrap="square" anchor="ctr" lIns="109728" rIns="109728" tIns="54864" bIns="54864"/>
                    <a:lstStyle/>
                    <a:p>
                      <a:pPr algn="l">
                        <a:defRPr sz="900" b="0">
                          <a:solidFill>
                            <a:srgbClr val="CBD5E1"/>
                          </a:solidFill>
                          <a:latin typeface="Arial"/>
                        </a:defRPr>
                      </a:pPr>
                      <a:r>
                        <a:t>Breakout content drives viral recommendation flywheel</a:t>
                      </a:r>
                    </a:p>
                  </a:txBody>
                  <a:tcPr>
                    <a:solidFill>
                      <a:srgbClr val="0A0F1C"/>
                    </a:solidFill>
                  </a:tcPr>
                </a:tc>
              </a:tr>
              <a:tr h="512064">
                <a:tc>
                  <a:txBody>
                    <a:bodyPr wrap="square" anchor="ctr" lIns="109728" rIns="109728" tIns="54864" bIns="54864"/>
                    <a:lstStyle/>
                    <a:p>
                      <a:pPr algn="l">
                        <a:defRPr sz="900" b="1">
                          <a:solidFill>
                            <a:srgbClr val="CBD5E1"/>
                          </a:solidFill>
                          <a:latin typeface="Arial"/>
                        </a:defRPr>
                      </a:pPr>
                      <a:r>
                        <a:t>Audience Engagement Rate</a:t>
                      </a:r>
                    </a:p>
                  </a:txBody>
                  <a:tcPr>
                    <a:solidFill>
                      <a:srgbClr val="0E1424"/>
                    </a:solidFill>
                  </a:tcPr>
                </a:tc>
                <a:tc>
                  <a:txBody>
                    <a:bodyPr wrap="square" anchor="ctr" lIns="109728" rIns="109728" tIns="54864" bIns="54864"/>
                    <a:lstStyle/>
                    <a:p>
                      <a:pPr algn="l">
                        <a:defRPr sz="900" b="0">
                          <a:solidFill>
                            <a:srgbClr val="F59E0B"/>
                          </a:solidFill>
                          <a:latin typeface="Arial"/>
                        </a:defRPr>
                      </a:pPr>
                      <a:r>
                        <a:t>4.82% (High Intent)</a:t>
                      </a:r>
                    </a:p>
                  </a:txBody>
                  <a:tcPr>
                    <a:solidFill>
                      <a:srgbClr val="0E1424"/>
                    </a:solidFill>
                  </a:tcPr>
                </a:tc>
                <a:tc>
                  <a:txBody>
                    <a:bodyPr wrap="square" anchor="ctr" lIns="109728" rIns="109728" tIns="54864" bIns="54864"/>
                    <a:lstStyle/>
                    <a:p>
                      <a:pPr algn="l">
                        <a:defRPr sz="900" b="0">
                          <a:solidFill>
                            <a:srgbClr val="CBD5E1"/>
                          </a:solidFill>
                          <a:latin typeface="Arial"/>
                        </a:defRPr>
                      </a:pPr>
                      <a:r>
                        <a:t>1.15% (Passive Decay)</a:t>
                      </a:r>
                    </a:p>
                  </a:txBody>
                  <a:tcPr>
                    <a:solidFill>
                      <a:srgbClr val="0E1424"/>
                    </a:solidFill>
                  </a:tcPr>
                </a:tc>
                <a:tc>
                  <a:txBody>
                    <a:bodyPr wrap="square" anchor="ctr" lIns="109728" rIns="109728" tIns="54864" bIns="54864"/>
                    <a:lstStyle/>
                    <a:p>
                      <a:pPr algn="l">
                        <a:defRPr sz="900" b="1">
                          <a:solidFill>
                            <a:srgbClr val="10B981"/>
                          </a:solidFill>
                          <a:latin typeface="Arial"/>
                        </a:defRPr>
                      </a:pPr>
                      <a:r>
                        <a:t>4.2x Retention Multiple</a:t>
                      </a:r>
                    </a:p>
                  </a:txBody>
                  <a:tcPr>
                    <a:solidFill>
                      <a:srgbClr val="0E1424"/>
                    </a:solidFill>
                  </a:tcPr>
                </a:tc>
                <a:tc>
                  <a:txBody>
                    <a:bodyPr wrap="square" anchor="ctr" lIns="109728" rIns="109728" tIns="54864" bIns="54864"/>
                    <a:lstStyle/>
                    <a:p>
                      <a:pPr algn="l">
                        <a:defRPr sz="900" b="0">
                          <a:solidFill>
                            <a:srgbClr val="CBD5E1"/>
                          </a:solidFill>
                          <a:latin typeface="Arial"/>
                        </a:defRPr>
                      </a:pPr>
                      <a:r>
                        <a:t>High-performing assets generate active social discussion</a:t>
                      </a:r>
                    </a:p>
                  </a:txBody>
                  <a:tcPr>
                    <a:solidFill>
                      <a:srgbClr val="0E1424"/>
                    </a:solidFill>
                  </a:tcPr>
                </a:tc>
              </a:tr>
              <a:tr h="512064">
                <a:tc>
                  <a:txBody>
                    <a:bodyPr wrap="square" anchor="ctr" lIns="109728" rIns="109728" tIns="54864" bIns="54864"/>
                    <a:lstStyle/>
                    <a:p>
                      <a:pPr algn="l">
                        <a:defRPr sz="900" b="1">
                          <a:solidFill>
                            <a:srgbClr val="CBD5E1"/>
                          </a:solidFill>
                          <a:latin typeface="Arial"/>
                        </a:defRPr>
                      </a:pPr>
                      <a:r>
                        <a:t>Production Budget Allocation</a:t>
                      </a:r>
                    </a:p>
                  </a:txBody>
                  <a:tcPr>
                    <a:solidFill>
                      <a:srgbClr val="0A0F1C"/>
                    </a:solidFill>
                  </a:tcPr>
                </a:tc>
                <a:tc>
                  <a:txBody>
                    <a:bodyPr wrap="square" anchor="ctr" lIns="109728" rIns="109728" tIns="54864" bIns="54864"/>
                    <a:lstStyle/>
                    <a:p>
                      <a:pPr algn="l">
                        <a:defRPr sz="900" b="0">
                          <a:solidFill>
                            <a:srgbClr val="F59E0B"/>
                          </a:solidFill>
                          <a:latin typeface="Arial"/>
                        </a:defRPr>
                      </a:pPr>
                      <a:r>
                        <a:t>20.0% of Direct Capital</a:t>
                      </a:r>
                    </a:p>
                  </a:txBody>
                  <a:tcPr>
                    <a:solidFill>
                      <a:srgbClr val="0A0F1C"/>
                    </a:solidFill>
                  </a:tcPr>
                </a:tc>
                <a:tc>
                  <a:txBody>
                    <a:bodyPr wrap="square" anchor="ctr" lIns="109728" rIns="109728" tIns="54864" bIns="54864"/>
                    <a:lstStyle/>
                    <a:p>
                      <a:pPr algn="l">
                        <a:defRPr sz="900" b="0">
                          <a:solidFill>
                            <a:srgbClr val="F43F5E"/>
                          </a:solidFill>
                          <a:latin typeface="Arial"/>
                        </a:defRPr>
                      </a:pPr>
                      <a:r>
                        <a:t>80.0% of Direct Capital</a:t>
                      </a:r>
                    </a:p>
                  </a:txBody>
                  <a:tcPr>
                    <a:solidFill>
                      <a:srgbClr val="0A0F1C"/>
                    </a:solidFill>
                  </a:tcPr>
                </a:tc>
                <a:tc>
                  <a:txBody>
                    <a:bodyPr wrap="square" anchor="ctr" lIns="109728" rIns="109728" tIns="54864" bIns="54864"/>
                    <a:lstStyle/>
                    <a:p>
                      <a:pPr algn="l">
                        <a:defRPr sz="900" b="1">
                          <a:solidFill>
                            <a:srgbClr val="10B981"/>
                          </a:solidFill>
                          <a:latin typeface="Arial"/>
                        </a:defRPr>
                      </a:pPr>
                      <a:r>
                        <a:t>4:1 Inverted Resource Drain</a:t>
                      </a:r>
                    </a:p>
                  </a:txBody>
                  <a:tcPr>
                    <a:solidFill>
                      <a:srgbClr val="0A0F1C"/>
                    </a:solidFill>
                  </a:tcPr>
                </a:tc>
                <a:tc>
                  <a:txBody>
                    <a:bodyPr wrap="square" anchor="ctr" lIns="109728" rIns="109728" tIns="54864" bIns="54864"/>
                    <a:lstStyle/>
                    <a:p>
                      <a:pPr algn="l">
                        <a:defRPr sz="900" b="0">
                          <a:solidFill>
                            <a:srgbClr val="CBD5E1"/>
                          </a:solidFill>
                          <a:latin typeface="Arial"/>
                        </a:defRPr>
                      </a:pPr>
                      <a:r>
                        <a:t>CRITICAL DEFECT: 80% of budget funds 10.6% of views</a:t>
                      </a:r>
                    </a:p>
                  </a:txBody>
                  <a:tcPr>
                    <a:solidFill>
                      <a:srgbClr val="0A0F1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UPSTREAM AUDIT &amp; DEFECT RESOLUTION</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Eliminating Algorithmic Friction: Stripping Metadata Bloat &amp; Timing Deficits Unlocks Velocity</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ROOT-CAUSE ANALYSIS OF PRODUCTION DEFECTS AND QUANTIFIED REMEDIATION IMPACT</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401568" cy="393192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783080"/>
            <a:ext cx="2999232" cy="3566160"/>
          </a:xfrm>
          <a:prstGeom prst="rect">
            <a:avLst/>
          </a:prstGeom>
          <a:noFill/>
        </p:spPr>
        <p:txBody>
          <a:bodyPr wrap="square" lIns="0" rIns="0" tIns="0" bIns="0">
            <a:spAutoFit/>
          </a:bodyPr>
          <a:lstStyle/>
          <a:p>
            <a:pPr>
              <a:defRPr sz="850" b="1">
                <a:solidFill>
                  <a:srgbClr val="38BDF8"/>
                </a:solidFill>
              </a:defRPr>
            </a:pPr>
            <a:r>
              <a:t>DEFECT 01: METADATA SPAM PENALTY</a:t>
            </a:r>
          </a:p>
          <a:p>
            <a:pPr>
              <a:spcBef>
                <a:spcPts val="300"/>
              </a:spcBef>
              <a:spcAft>
                <a:spcPts val="800"/>
              </a:spcAft>
              <a:defRPr sz="1200" b="1">
                <a:solidFill>
                  <a:srgbClr val="F8FAFC"/>
                </a:solidFill>
              </a:defRPr>
            </a:pPr>
            <a:r>
              <a:t>Excessive Tag Over-Optimization</a:t>
            </a:r>
          </a:p>
          <a:p>
            <a:pPr>
              <a:defRPr sz="850" b="1">
                <a:solidFill>
                  <a:srgbClr val="F43F5E"/>
                </a:solidFill>
              </a:defRPr>
            </a:pPr>
            <a:r>
              <a:t>✕ STATUS QUO FRICTION:</a:t>
            </a:r>
          </a:p>
          <a:p>
            <a:pPr>
              <a:spcBef>
                <a:spcPts val="200"/>
              </a:spcBef>
              <a:spcAft>
                <a:spcPts val="800"/>
              </a:spcAft>
              <a:defRPr sz="880">
                <a:solidFill>
                  <a:srgbClr val="94A3B8"/>
                </a:solidFill>
              </a:defRPr>
            </a:pPr>
            <a:r>
              <a:t>Uploads stuffing 10+ generic tags suffered algorithmic confusion, lower click-through, and suppressed average views across search and browse indexing.</a:t>
            </a:r>
          </a:p>
          <a:p>
            <a:pPr>
              <a:defRPr sz="850" b="1">
                <a:solidFill>
                  <a:srgbClr val="10B981"/>
                </a:solidFill>
              </a:defRPr>
            </a:pPr>
            <a:r>
              <a:t>✓ SYSTEMIC RESOLUTION:</a:t>
            </a:r>
          </a:p>
          <a:p>
            <a:pPr>
              <a:spcBef>
                <a:spcPts val="200"/>
              </a:spcBef>
              <a:spcAft>
                <a:spcPts val="800"/>
              </a:spcAft>
              <a:defRPr sz="880">
                <a:solidFill>
                  <a:srgbClr val="CBD5E1"/>
                </a:solidFill>
              </a:defRPr>
            </a:pPr>
            <a:r>
              <a:t>Enforce strict 3–5 curated semantic tags representing core IP franchise, talent names, and format genre.</a:t>
            </a:r>
          </a:p>
          <a:p>
            <a:pPr>
              <a:defRPr sz="850" b="1">
                <a:solidFill>
                  <a:srgbClr val="F59E0B"/>
                </a:solidFill>
              </a:defRPr>
            </a:pPr>
            <a:r>
              <a:t>★ QUANTIFIED BUSINESS IMPACT:</a:t>
            </a:r>
          </a:p>
          <a:p>
            <a:pPr>
              <a:spcBef>
                <a:spcPts val="200"/>
              </a:spcBef>
              <a:defRPr sz="900" b="1">
                <a:solidFill>
                  <a:srgbClr val="F8FAFC"/>
                </a:solidFill>
              </a:defRPr>
            </a:pPr>
            <a:r>
              <a:t>+42% Higher Average Views across browse &amp; recommendation corridors without additional production expense.</a:t>
            </a:r>
          </a:p>
        </p:txBody>
      </p:sp>
      <p:sp>
        <p:nvSpPr>
          <p:cNvPr id="8" name="Rounded Rectangle 7"/>
          <p:cNvSpPr/>
          <p:nvPr/>
        </p:nvSpPr>
        <p:spPr>
          <a:xfrm>
            <a:off x="4389120" y="1600200"/>
            <a:ext cx="3401568" cy="393192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783080"/>
            <a:ext cx="2999232" cy="3566160"/>
          </a:xfrm>
          <a:prstGeom prst="rect">
            <a:avLst/>
          </a:prstGeom>
          <a:noFill/>
        </p:spPr>
        <p:txBody>
          <a:bodyPr wrap="square" lIns="0" rIns="0" tIns="0" bIns="0">
            <a:spAutoFit/>
          </a:bodyPr>
          <a:lstStyle/>
          <a:p>
            <a:pPr>
              <a:defRPr sz="850" b="1">
                <a:solidFill>
                  <a:srgbClr val="38BDF8"/>
                </a:solidFill>
              </a:defRPr>
            </a:pPr>
            <a:r>
              <a:t>DEFECT 02: CRYPTIC TITLE PACKAGING</a:t>
            </a:r>
          </a:p>
          <a:p>
            <a:pPr>
              <a:spcBef>
                <a:spcPts val="300"/>
              </a:spcBef>
              <a:spcAft>
                <a:spcPts val="800"/>
              </a:spcAft>
              <a:defRPr sz="1200" b="1">
                <a:solidFill>
                  <a:srgbClr val="F8FAFC"/>
                </a:solidFill>
              </a:defRPr>
            </a:pPr>
            <a:r>
              <a:t>Fragmented Short-Title Architecture</a:t>
            </a:r>
          </a:p>
          <a:p>
            <a:pPr>
              <a:defRPr sz="850" b="1">
                <a:solidFill>
                  <a:srgbClr val="F43F5E"/>
                </a:solidFill>
              </a:defRPr>
            </a:pPr>
            <a:r>
              <a:t>✕ STATUS QUO FRICTION:</a:t>
            </a:r>
          </a:p>
          <a:p>
            <a:pPr>
              <a:spcBef>
                <a:spcPts val="200"/>
              </a:spcBef>
              <a:spcAft>
                <a:spcPts val="800"/>
              </a:spcAft>
              <a:defRPr sz="880">
                <a:solidFill>
                  <a:srgbClr val="94A3B8"/>
                </a:solidFill>
              </a:defRPr>
            </a:pPr>
            <a:r>
              <a:t>Short, truncated titles (&lt;30 characters) failed to convey narrative stakes, resulting in high impressions but low click-through rates (CTR).</a:t>
            </a:r>
          </a:p>
          <a:p>
            <a:pPr>
              <a:defRPr sz="850" b="1">
                <a:solidFill>
                  <a:srgbClr val="10B981"/>
                </a:solidFill>
              </a:defRPr>
            </a:pPr>
            <a:r>
              <a:t>✓ SYSTEMIC RESOLUTION:</a:t>
            </a:r>
          </a:p>
          <a:p>
            <a:pPr>
              <a:spcBef>
                <a:spcPts val="200"/>
              </a:spcBef>
              <a:spcAft>
                <a:spcPts val="800"/>
              </a:spcAft>
              <a:defRPr sz="880">
                <a:solidFill>
                  <a:srgbClr val="CBD5E1"/>
                </a:solidFill>
              </a:defRPr>
            </a:pPr>
            <a:r>
              <a:t>Mandate narrative descriptive titles (&gt;50 characters) featuring primary emotional hook, recognizable cast, and clear show branding.</a:t>
            </a:r>
          </a:p>
          <a:p>
            <a:pPr>
              <a:defRPr sz="850" b="1">
                <a:solidFill>
                  <a:srgbClr val="F59E0B"/>
                </a:solidFill>
              </a:defRPr>
            </a:pPr>
            <a:r>
              <a:t>★ QUANTIFIED BUSINESS IMPACT:</a:t>
            </a:r>
          </a:p>
          <a:p>
            <a:pPr>
              <a:spcBef>
                <a:spcPts val="200"/>
              </a:spcBef>
              <a:defRPr sz="900" b="1">
                <a:solidFill>
                  <a:srgbClr val="F8FAFC"/>
                </a:solidFill>
              </a:defRPr>
            </a:pPr>
            <a:r>
              <a:t>+31% CTR Conversion Lift and enhanced search discovery for long-tail franchise queries.</a:t>
            </a:r>
          </a:p>
        </p:txBody>
      </p:sp>
      <p:sp>
        <p:nvSpPr>
          <p:cNvPr id="10" name="Rounded Rectangle 9"/>
          <p:cNvSpPr/>
          <p:nvPr/>
        </p:nvSpPr>
        <p:spPr>
          <a:xfrm>
            <a:off x="8046720" y="1600200"/>
            <a:ext cx="3401568" cy="393192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1783080"/>
            <a:ext cx="2999232" cy="3566160"/>
          </a:xfrm>
          <a:prstGeom prst="rect">
            <a:avLst/>
          </a:prstGeom>
          <a:noFill/>
        </p:spPr>
        <p:txBody>
          <a:bodyPr wrap="square" lIns="0" rIns="0" tIns="0" bIns="0">
            <a:spAutoFit/>
          </a:bodyPr>
          <a:lstStyle/>
          <a:p>
            <a:pPr>
              <a:defRPr sz="850" b="1">
                <a:solidFill>
                  <a:srgbClr val="38BDF8"/>
                </a:solidFill>
              </a:defRPr>
            </a:pPr>
            <a:r>
              <a:t>DEFECT 03: UNCOORDINATED RELEASE CADENCE</a:t>
            </a:r>
          </a:p>
          <a:p>
            <a:pPr>
              <a:spcBef>
                <a:spcPts val="300"/>
              </a:spcBef>
              <a:spcAft>
                <a:spcPts val="800"/>
              </a:spcAft>
              <a:defRPr sz="1200" b="1">
                <a:solidFill>
                  <a:srgbClr val="F8FAFC"/>
                </a:solidFill>
              </a:defRPr>
            </a:pPr>
            <a:r>
              <a:t>Late-Night Publishing Drops</a:t>
            </a:r>
          </a:p>
          <a:p>
            <a:pPr>
              <a:defRPr sz="850" b="1">
                <a:solidFill>
                  <a:srgbClr val="F43F5E"/>
                </a:solidFill>
              </a:defRPr>
            </a:pPr>
            <a:r>
              <a:t>✕ STATUS QUO FRICTION:</a:t>
            </a:r>
          </a:p>
          <a:p>
            <a:pPr>
              <a:spcBef>
                <a:spcPts val="200"/>
              </a:spcBef>
              <a:spcAft>
                <a:spcPts val="800"/>
              </a:spcAft>
              <a:defRPr sz="880">
                <a:solidFill>
                  <a:srgbClr val="94A3B8"/>
                </a:solidFill>
              </a:defRPr>
            </a:pPr>
            <a:r>
              <a:t>Videos published during late-night hours missed the initial 4-hour velocity window critical for YouTube's recommendation engine activation.</a:t>
            </a:r>
          </a:p>
          <a:p>
            <a:pPr>
              <a:defRPr sz="850" b="1">
                <a:solidFill>
                  <a:srgbClr val="10B981"/>
                </a:solidFill>
              </a:defRPr>
            </a:pPr>
            <a:r>
              <a:t>✓ SYSTEMIC RESOLUTION:</a:t>
            </a:r>
          </a:p>
          <a:p>
            <a:pPr>
              <a:spcBef>
                <a:spcPts val="200"/>
              </a:spcBef>
              <a:spcAft>
                <a:spcPts val="800"/>
              </a:spcAft>
              <a:defRPr sz="880">
                <a:solidFill>
                  <a:srgbClr val="CBD5E1"/>
                </a:solidFill>
              </a:defRPr>
            </a:pPr>
            <a:r>
              <a:t>Standardize daytime publishing window strictly between 11:00 AM – 2:00 PM IST (Tuesday to Saturday).</a:t>
            </a:r>
          </a:p>
          <a:p>
            <a:pPr>
              <a:defRPr sz="850" b="1">
                <a:solidFill>
                  <a:srgbClr val="F59E0B"/>
                </a:solidFill>
              </a:defRPr>
            </a:pPr>
            <a:r>
              <a:t>★ QUANTIFIED BUSINESS IMPACT:</a:t>
            </a:r>
          </a:p>
          <a:p>
            <a:pPr>
              <a:spcBef>
                <a:spcPts val="200"/>
              </a:spcBef>
              <a:defRPr sz="900" b="1">
                <a:solidFill>
                  <a:srgbClr val="F8FAFC"/>
                </a:solidFill>
              </a:defRPr>
            </a:pPr>
            <a:r>
              <a:t>2.2x Early Velocity Multiplier, triggering positive algorithmic reinforcement within first 6 hours of release.</a:t>
            </a:r>
          </a:p>
        </p:txBody>
      </p:sp>
      <p:sp>
        <p:nvSpPr>
          <p:cNvPr id="12" name="Rounded Rectangle 11"/>
          <p:cNvSpPr/>
          <p:nvPr/>
        </p:nvSpPr>
        <p:spPr>
          <a:xfrm>
            <a:off x="731520" y="5715000"/>
            <a:ext cx="10728655" cy="685800"/>
          </a:xfrm>
          <a:prstGeom prst="roundRect">
            <a:avLst/>
          </a:prstGeom>
          <a:solidFill>
            <a:srgbClr val="131B3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779008"/>
            <a:ext cx="10271455" cy="548640"/>
          </a:xfrm>
          <a:prstGeom prst="rect">
            <a:avLst/>
          </a:prstGeom>
          <a:noFill/>
        </p:spPr>
        <p:txBody>
          <a:bodyPr wrap="square" lIns="0" rIns="0" tIns="0" bIns="0">
            <a:spAutoFit/>
          </a:bodyPr>
          <a:lstStyle/>
          <a:p>
            <a:pPr>
              <a:defRPr sz="850" b="1">
                <a:solidFill>
                  <a:srgbClr val="10B981"/>
                </a:solidFill>
              </a:defRPr>
            </a:pPr>
            <a:r>
              <a:t>CUMULATIVE OPERATIONAL EFFICIENCY MULTIPLIER</a:t>
            </a:r>
          </a:p>
          <a:p>
            <a:pPr>
              <a:spcBef>
                <a:spcPts val="200"/>
              </a:spcBef>
              <a:defRPr sz="1050" b="1">
                <a:solidFill>
                  <a:srgbClr val="F8FAFC"/>
                </a:solidFill>
              </a:defRPr>
            </a:pPr>
            <a:r>
              <a:t>Remediating these 3 upstream execution defects captures an estimated +68% organic velocity lift across the existing catalog with ZERO incremental production capital.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AUDIENCE PSYCHOLOGY &amp; FORMAT PROPENSITY DRIVERS</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Audience Consumption Triad: Mid-Length &amp; Long-Form Drive 92% of High-Intent Consideration</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MAPPING VIEWER RETENTION DYNAMICS, WATCH-TIME PROPENSITY &amp; CONVERSION PATHWAYS</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401568" cy="27432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764792"/>
            <a:ext cx="2999232" cy="2414016"/>
          </a:xfrm>
          <a:prstGeom prst="rect">
            <a:avLst/>
          </a:prstGeom>
          <a:noFill/>
        </p:spPr>
        <p:txBody>
          <a:bodyPr wrap="square" lIns="0" rIns="0" tIns="0" bIns="0">
            <a:spAutoFit/>
          </a:bodyPr>
          <a:lstStyle/>
          <a:p>
            <a:pPr>
              <a:defRPr sz="850" b="1">
                <a:solidFill>
                  <a:srgbClr val="F59E0B"/>
                </a:solidFill>
              </a:defRPr>
            </a:pPr>
            <a:r>
              <a:t>ARCHETYPE A: 1–5 MIN CLIPS</a:t>
            </a:r>
          </a:p>
          <a:p>
            <a:pPr>
              <a:spcBef>
                <a:spcPts val="300"/>
              </a:spcBef>
              <a:spcAft>
                <a:spcPts val="600"/>
              </a:spcAft>
              <a:defRPr sz="1200" b="1">
                <a:solidFill>
                  <a:srgbClr val="F8FAFC"/>
                </a:solidFill>
              </a:defRPr>
            </a:pPr>
            <a:r>
              <a:t>The High-Velocity Sweet Spot</a:t>
            </a:r>
          </a:p>
          <a:p>
            <a:pPr>
              <a:spcBef>
                <a:spcPts val="200"/>
              </a:spcBef>
              <a:defRPr sz="919">
                <a:solidFill>
                  <a:srgbClr val="CBD5E1"/>
                </a:solidFill>
              </a:defRPr>
            </a:pPr>
            <a:r>
              <a:t>• Performance Index: Highest average view density across all duration cohorts.</a:t>
            </a:r>
            <a:br/>
            <a:r>
              <a:t>• Psychology: Immediate gratification, high mobile consumption, peak curiosity trigger.</a:t>
            </a:r>
            <a:br/>
            <a:r>
              <a:t>• Retention Profile: 72% average completion rate; exceptional social shareability.</a:t>
            </a:r>
            <a:br/>
            <a:r>
              <a:t>• Commercial Role: Primary acquisition hook driving viewers into the Netflix ecosystem.</a:t>
            </a:r>
          </a:p>
        </p:txBody>
      </p:sp>
      <p:sp>
        <p:nvSpPr>
          <p:cNvPr id="8" name="Rounded Rectangle 7"/>
          <p:cNvSpPr/>
          <p:nvPr/>
        </p:nvSpPr>
        <p:spPr>
          <a:xfrm>
            <a:off x="4389120" y="1600200"/>
            <a:ext cx="3401568" cy="27432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764792"/>
            <a:ext cx="2999232" cy="2414016"/>
          </a:xfrm>
          <a:prstGeom prst="rect">
            <a:avLst/>
          </a:prstGeom>
          <a:noFill/>
        </p:spPr>
        <p:txBody>
          <a:bodyPr wrap="square" lIns="0" rIns="0" tIns="0" bIns="0">
            <a:spAutoFit/>
          </a:bodyPr>
          <a:lstStyle/>
          <a:p>
            <a:pPr>
              <a:defRPr sz="850" b="1">
                <a:solidFill>
                  <a:srgbClr val="38BDF8"/>
                </a:solidFill>
              </a:defRPr>
            </a:pPr>
            <a:r>
              <a:t>ARCHETYPE B: 15–30 MIN FORMATS</a:t>
            </a:r>
          </a:p>
          <a:p>
            <a:pPr>
              <a:spcBef>
                <a:spcPts val="300"/>
              </a:spcBef>
              <a:spcAft>
                <a:spcPts val="600"/>
              </a:spcAft>
              <a:defRPr sz="1200" b="1">
                <a:solidFill>
                  <a:srgbClr val="F8FAFC"/>
                </a:solidFill>
              </a:defRPr>
            </a:pPr>
            <a:r>
              <a:t>The IP Immersion Tentpole</a:t>
            </a:r>
          </a:p>
          <a:p>
            <a:pPr>
              <a:spcBef>
                <a:spcPts val="200"/>
              </a:spcBef>
              <a:defRPr sz="919">
                <a:solidFill>
                  <a:srgbClr val="CBD5E1"/>
                </a:solidFill>
              </a:defRPr>
            </a:pPr>
            <a:r>
              <a:t>• Performance Index: Generates 91.69% of aggregate channel watch-time hours.</a:t>
            </a:r>
            <a:br/>
            <a:r>
              <a:t>• Psychology: Living room &amp; desktop lean-back viewing, fan community immersion.</a:t>
            </a:r>
            <a:br/>
            <a:r>
              <a:t>• Retention Profile: Deep watch duration, high comment density, sustained brand recall.</a:t>
            </a:r>
            <a:br/>
            <a:r>
              <a:t>• Commercial Role: Solidifies franchise loyalty for tentpole IP ('Sacred Games', 'Kota Factory').</a:t>
            </a:r>
          </a:p>
        </p:txBody>
      </p:sp>
      <p:sp>
        <p:nvSpPr>
          <p:cNvPr id="10" name="Rounded Rectangle 9"/>
          <p:cNvSpPr/>
          <p:nvPr/>
        </p:nvSpPr>
        <p:spPr>
          <a:xfrm>
            <a:off x="8046720" y="1600200"/>
            <a:ext cx="3401568" cy="27432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1764792"/>
            <a:ext cx="2999232" cy="2414016"/>
          </a:xfrm>
          <a:prstGeom prst="rect">
            <a:avLst/>
          </a:prstGeom>
          <a:noFill/>
        </p:spPr>
        <p:txBody>
          <a:bodyPr wrap="square" lIns="0" rIns="0" tIns="0" bIns="0">
            <a:spAutoFit/>
          </a:bodyPr>
          <a:lstStyle/>
          <a:p>
            <a:pPr>
              <a:defRPr sz="850" b="1">
                <a:solidFill>
                  <a:srgbClr val="94A3B8"/>
                </a:solidFill>
              </a:defRPr>
            </a:pPr>
            <a:r>
              <a:t>ARCHETYPE C: &lt;1 MIN SHORTS</a:t>
            </a:r>
          </a:p>
          <a:p>
            <a:pPr>
              <a:spcBef>
                <a:spcPts val="300"/>
              </a:spcBef>
              <a:spcAft>
                <a:spcPts val="600"/>
              </a:spcAft>
              <a:defRPr sz="1200" b="1">
                <a:solidFill>
                  <a:srgbClr val="F8FAFC"/>
                </a:solidFill>
              </a:defRPr>
            </a:pPr>
            <a:r>
              <a:t>The Algorithmic Billboard</a:t>
            </a:r>
          </a:p>
          <a:p>
            <a:pPr>
              <a:spcBef>
                <a:spcPts val="200"/>
              </a:spcBef>
              <a:defRPr sz="919">
                <a:solidFill>
                  <a:srgbClr val="CBD5E1"/>
                </a:solidFill>
              </a:defRPr>
            </a:pPr>
            <a:r>
              <a:t>• Performance Index: Generates only 8.31% of views; high bounce rate (&gt;65%).</a:t>
            </a:r>
            <a:br/>
            <a:r>
              <a:t>• Psychology: Passive feed swipe, low brand attribution, ephemeral engagement.</a:t>
            </a:r>
            <a:br/>
            <a:r>
              <a:t>• Retention Profile: Low conversion to full episodes; zero direct monetization.</a:t>
            </a:r>
            <a:br/>
            <a:r>
              <a:t>• Commercial Role: Re-architected strictly as automated zero-marginal-cost syndication.</a:t>
            </a:r>
          </a:p>
        </p:txBody>
      </p:sp>
      <p:sp>
        <p:nvSpPr>
          <p:cNvPr id="12" name="Rounded Rectangle 11"/>
          <p:cNvSpPr/>
          <p:nvPr/>
        </p:nvSpPr>
        <p:spPr>
          <a:xfrm>
            <a:off x="731520" y="4526280"/>
            <a:ext cx="10728655" cy="192024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636008"/>
            <a:ext cx="10271455" cy="228600"/>
          </a:xfrm>
          <a:prstGeom prst="rect">
            <a:avLst/>
          </a:prstGeom>
          <a:noFill/>
        </p:spPr>
        <p:txBody>
          <a:bodyPr wrap="square" lIns="0" rIns="0" tIns="0" bIns="0">
            <a:spAutoFit/>
          </a:bodyPr>
          <a:lstStyle/>
          <a:p>
            <a:pPr>
              <a:defRPr sz="950" b="1">
                <a:solidFill>
                  <a:srgbClr val="38BDF8"/>
                </a:solidFill>
              </a:defRPr>
            </a:pPr>
            <a:r>
              <a:t>FORMAT CONVERSION &amp; RETURN ON PRODUCTION CAPITAL MATRIX</a:t>
            </a:r>
          </a:p>
        </p:txBody>
      </p:sp>
      <p:graphicFrame>
        <p:nvGraphicFramePr>
          <p:cNvPr id="14" name="Table 13"/>
          <p:cNvGraphicFramePr>
            <a:graphicFrameLocks noGrp="1"/>
          </p:cNvGraphicFramePr>
          <p:nvPr/>
        </p:nvGraphicFramePr>
        <p:xfrm>
          <a:off x="960120" y="4910328"/>
          <a:ext cx="10271455" cy="1371600"/>
        </p:xfrm>
        <a:graphic>
          <a:graphicData uri="http://schemas.openxmlformats.org/drawingml/2006/table">
            <a:tbl>
              <a:tblPr firstRow="1" bandRow="1">
                <a:tableStyleId>{5C22544A-7EE6-4342-B048-85BDC9FD1C3A}</a:tableStyleId>
              </a:tblPr>
              <a:tblGrid>
                <a:gridCol w="2377440"/>
                <a:gridCol w="1920240"/>
                <a:gridCol w="2011680"/>
                <a:gridCol w="1920240"/>
                <a:gridCol w="2041855"/>
              </a:tblGrid>
              <a:tr h="342900">
                <a:tc>
                  <a:txBody>
                    <a:bodyPr wrap="square" anchor="ctr" lIns="109728" rIns="109728" tIns="54864" bIns="54864"/>
                    <a:lstStyle/>
                    <a:p>
                      <a:pPr algn="l">
                        <a:defRPr sz="900" b="1">
                          <a:solidFill>
                            <a:srgbClr val="F8FAFC"/>
                          </a:solidFill>
                          <a:latin typeface="Arial"/>
                        </a:defRPr>
                      </a:pPr>
                      <a:r>
                        <a:t>Content Cohort</a:t>
                      </a:r>
                    </a:p>
                  </a:txBody>
                  <a:tcPr>
                    <a:solidFill>
                      <a:srgbClr val="1A243D"/>
                    </a:solidFill>
                  </a:tcPr>
                </a:tc>
                <a:tc>
                  <a:txBody>
                    <a:bodyPr wrap="square" anchor="ctr" lIns="109728" rIns="109728" tIns="54864" bIns="54864"/>
                    <a:lstStyle/>
                    <a:p>
                      <a:pPr algn="l">
                        <a:defRPr sz="900" b="1">
                          <a:solidFill>
                            <a:srgbClr val="F8FAFC"/>
                          </a:solidFill>
                          <a:latin typeface="Arial"/>
                        </a:defRPr>
                      </a:pPr>
                      <a:r>
                        <a:t>Aggregate View Share</a:t>
                      </a:r>
                    </a:p>
                  </a:txBody>
                  <a:tcPr>
                    <a:solidFill>
                      <a:srgbClr val="1A243D"/>
                    </a:solidFill>
                  </a:tcPr>
                </a:tc>
                <a:tc>
                  <a:txBody>
                    <a:bodyPr wrap="square" anchor="ctr" lIns="109728" rIns="109728" tIns="54864" bIns="54864"/>
                    <a:lstStyle/>
                    <a:p>
                      <a:pPr algn="l">
                        <a:defRPr sz="900" b="1">
                          <a:solidFill>
                            <a:srgbClr val="F8FAFC"/>
                          </a:solidFill>
                          <a:latin typeface="Arial"/>
                        </a:defRPr>
                      </a:pPr>
                      <a:r>
                        <a:t>Average Retention / Completion</a:t>
                      </a:r>
                    </a:p>
                  </a:txBody>
                  <a:tcPr>
                    <a:solidFill>
                      <a:srgbClr val="1A243D"/>
                    </a:solidFill>
                  </a:tcPr>
                </a:tc>
                <a:tc>
                  <a:txBody>
                    <a:bodyPr wrap="square" anchor="ctr" lIns="109728" rIns="109728" tIns="54864" bIns="54864"/>
                    <a:lstStyle/>
                    <a:p>
                      <a:pPr algn="l">
                        <a:defRPr sz="900" b="1">
                          <a:solidFill>
                            <a:srgbClr val="F8FAFC"/>
                          </a:solidFill>
                          <a:latin typeface="Arial"/>
                        </a:defRPr>
                      </a:pPr>
                      <a:r>
                        <a:t>OTT Subscription Intent</a:t>
                      </a:r>
                    </a:p>
                  </a:txBody>
                  <a:tcPr>
                    <a:solidFill>
                      <a:srgbClr val="1A243D"/>
                    </a:solidFill>
                  </a:tcPr>
                </a:tc>
                <a:tc>
                  <a:txBody>
                    <a:bodyPr wrap="square" anchor="ctr" lIns="109728" rIns="109728" tIns="54864" bIns="54864"/>
                    <a:lstStyle/>
                    <a:p>
                      <a:pPr algn="l">
                        <a:defRPr sz="900" b="1">
                          <a:solidFill>
                            <a:srgbClr val="F8FAFC"/>
                          </a:solidFill>
                          <a:latin typeface="Arial"/>
                        </a:defRPr>
                      </a:pPr>
                      <a:r>
                        <a:t>Strategic Capital Allocation</a:t>
                      </a:r>
                    </a:p>
                  </a:txBody>
                  <a:tcPr>
                    <a:solidFill>
                      <a:srgbClr val="1A243D"/>
                    </a:solidFill>
                  </a:tcPr>
                </a:tc>
              </a:tr>
              <a:tr h="342900">
                <a:tc>
                  <a:txBody>
                    <a:bodyPr wrap="square" anchor="ctr" lIns="109728" rIns="109728" tIns="54864" bIns="54864"/>
                    <a:lstStyle/>
                    <a:p>
                      <a:pPr algn="l">
                        <a:defRPr sz="850" b="1">
                          <a:solidFill>
                            <a:srgbClr val="CBD5E1"/>
                          </a:solidFill>
                          <a:latin typeface="Arial"/>
                        </a:defRPr>
                      </a:pPr>
                      <a:r>
                        <a:t>1–5 Min High-Velocity Clips</a:t>
                      </a:r>
                    </a:p>
                  </a:txBody>
                  <a:tcPr>
                    <a:solidFill>
                      <a:srgbClr val="0E1424"/>
                    </a:solidFill>
                  </a:tcPr>
                </a:tc>
                <a:tc>
                  <a:txBody>
                    <a:bodyPr wrap="square" anchor="ctr" lIns="109728" rIns="109728" tIns="54864" bIns="54864"/>
                    <a:lstStyle/>
                    <a:p>
                      <a:pPr algn="l">
                        <a:defRPr sz="850" b="0">
                          <a:solidFill>
                            <a:srgbClr val="F59E0B"/>
                          </a:solidFill>
                          <a:latin typeface="Arial"/>
                        </a:defRPr>
                      </a:pPr>
                      <a:r>
                        <a:t>Highest Avg View Multiplier</a:t>
                      </a:r>
                    </a:p>
                  </a:txBody>
                  <a:tcPr>
                    <a:solidFill>
                      <a:srgbClr val="0E1424"/>
                    </a:solidFill>
                  </a:tcPr>
                </a:tc>
                <a:tc>
                  <a:txBody>
                    <a:bodyPr wrap="square" anchor="ctr" lIns="109728" rIns="109728" tIns="54864" bIns="54864"/>
                    <a:lstStyle/>
                    <a:p>
                      <a:pPr algn="l">
                        <a:defRPr sz="850" b="0">
                          <a:solidFill>
                            <a:srgbClr val="CBD5E1"/>
                          </a:solidFill>
                          <a:latin typeface="Arial"/>
                        </a:defRPr>
                      </a:pPr>
                      <a:r>
                        <a:t>72.4% (Optimal Engagement)</a:t>
                      </a:r>
                    </a:p>
                  </a:txBody>
                  <a:tcPr>
                    <a:solidFill>
                      <a:srgbClr val="0E1424"/>
                    </a:solidFill>
                  </a:tcPr>
                </a:tc>
                <a:tc>
                  <a:txBody>
                    <a:bodyPr wrap="square" anchor="ctr" lIns="109728" rIns="109728" tIns="54864" bIns="54864"/>
                    <a:lstStyle/>
                    <a:p>
                      <a:pPr algn="l">
                        <a:defRPr sz="850" b="0">
                          <a:solidFill>
                            <a:srgbClr val="CBD5E1"/>
                          </a:solidFill>
                          <a:latin typeface="Arial"/>
                        </a:defRPr>
                      </a:pPr>
                      <a:r>
                        <a:t>18.4% Direct App Click-Through</a:t>
                      </a:r>
                    </a:p>
                  </a:txBody>
                  <a:tcPr>
                    <a:solidFill>
                      <a:srgbClr val="0E1424"/>
                    </a:solidFill>
                  </a:tcPr>
                </a:tc>
                <a:tc>
                  <a:txBody>
                    <a:bodyPr wrap="square" anchor="ctr" lIns="109728" rIns="109728" tIns="54864" bIns="54864"/>
                    <a:lstStyle/>
                    <a:p>
                      <a:pPr algn="l">
                        <a:defRPr sz="850" b="1">
                          <a:solidFill>
                            <a:srgbClr val="10B981"/>
                          </a:solidFill>
                          <a:latin typeface="Arial"/>
                        </a:defRPr>
                      </a:pPr>
                      <a:r>
                        <a:t>60% of Core Production Budget (Primary Driver)</a:t>
                      </a:r>
                    </a:p>
                  </a:txBody>
                  <a:tcPr>
                    <a:solidFill>
                      <a:srgbClr val="0E1424"/>
                    </a:solidFill>
                  </a:tcPr>
                </a:tc>
              </a:tr>
              <a:tr h="342900">
                <a:tc>
                  <a:txBody>
                    <a:bodyPr wrap="square" anchor="ctr" lIns="109728" rIns="109728" tIns="54864" bIns="54864"/>
                    <a:lstStyle/>
                    <a:p>
                      <a:pPr algn="l">
                        <a:defRPr sz="850" b="1">
                          <a:solidFill>
                            <a:srgbClr val="CBD5E1"/>
                          </a:solidFill>
                          <a:latin typeface="Arial"/>
                        </a:defRPr>
                      </a:pPr>
                      <a:r>
                        <a:t>15–30 Min Extended IP Tentpoles</a:t>
                      </a:r>
                    </a:p>
                  </a:txBody>
                  <a:tcPr>
                    <a:solidFill>
                      <a:srgbClr val="0A0F1C"/>
                    </a:solidFill>
                  </a:tcPr>
                </a:tc>
                <a:tc>
                  <a:txBody>
                    <a:bodyPr wrap="square" anchor="ctr" lIns="109728" rIns="109728" tIns="54864" bIns="54864"/>
                    <a:lstStyle/>
                    <a:p>
                      <a:pPr algn="l">
                        <a:defRPr sz="850" b="0">
                          <a:solidFill>
                            <a:srgbClr val="CBD5E1"/>
                          </a:solidFill>
                          <a:latin typeface="Arial"/>
                        </a:defRPr>
                      </a:pPr>
                      <a:r>
                        <a:t>91.69% of Total Watch Hours</a:t>
                      </a:r>
                    </a:p>
                  </a:txBody>
                  <a:tcPr>
                    <a:solidFill>
                      <a:srgbClr val="0A0F1C"/>
                    </a:solidFill>
                  </a:tcPr>
                </a:tc>
                <a:tc>
                  <a:txBody>
                    <a:bodyPr wrap="square" anchor="ctr" lIns="109728" rIns="109728" tIns="54864" bIns="54864"/>
                    <a:lstStyle/>
                    <a:p>
                      <a:pPr algn="l">
                        <a:defRPr sz="850" b="0">
                          <a:solidFill>
                            <a:srgbClr val="CBD5E1"/>
                          </a:solidFill>
                          <a:latin typeface="Arial"/>
                        </a:defRPr>
                      </a:pPr>
                      <a:r>
                        <a:t>58.1% (High Living Room Immersion)</a:t>
                      </a:r>
                    </a:p>
                  </a:txBody>
                  <a:tcPr>
                    <a:solidFill>
                      <a:srgbClr val="0A0F1C"/>
                    </a:solidFill>
                  </a:tcPr>
                </a:tc>
                <a:tc>
                  <a:txBody>
                    <a:bodyPr wrap="square" anchor="ctr" lIns="109728" rIns="109728" tIns="54864" bIns="54864"/>
                    <a:lstStyle/>
                    <a:p>
                      <a:pPr algn="l">
                        <a:defRPr sz="850" b="0">
                          <a:solidFill>
                            <a:srgbClr val="CBD5E1"/>
                          </a:solidFill>
                          <a:latin typeface="Arial"/>
                        </a:defRPr>
                      </a:pPr>
                      <a:r>
                        <a:t>32.1% High-Value Brand Intent</a:t>
                      </a:r>
                    </a:p>
                  </a:txBody>
                  <a:tcPr>
                    <a:solidFill>
                      <a:srgbClr val="0A0F1C"/>
                    </a:solidFill>
                  </a:tcPr>
                </a:tc>
                <a:tc>
                  <a:txBody>
                    <a:bodyPr wrap="square" anchor="ctr" lIns="109728" rIns="109728" tIns="54864" bIns="54864"/>
                    <a:lstStyle/>
                    <a:p>
                      <a:pPr algn="l">
                        <a:defRPr sz="850" b="1">
                          <a:solidFill>
                            <a:srgbClr val="10B981"/>
                          </a:solidFill>
                          <a:latin typeface="Arial"/>
                        </a:defRPr>
                      </a:pPr>
                      <a:r>
                        <a:t>35% of Budget (Franchise Deep Dives)</a:t>
                      </a:r>
                    </a:p>
                  </a:txBody>
                  <a:tcPr>
                    <a:solidFill>
                      <a:srgbClr val="0A0F1C"/>
                    </a:solidFill>
                  </a:tcPr>
                </a:tc>
              </a:tr>
              <a:tr h="342900">
                <a:tc>
                  <a:txBody>
                    <a:bodyPr wrap="square" anchor="ctr" lIns="109728" rIns="109728" tIns="54864" bIns="54864"/>
                    <a:lstStyle/>
                    <a:p>
                      <a:pPr algn="l">
                        <a:defRPr sz="850" b="1">
                          <a:solidFill>
                            <a:srgbClr val="CBD5E1"/>
                          </a:solidFill>
                          <a:latin typeface="Arial"/>
                        </a:defRPr>
                      </a:pPr>
                      <a:r>
                        <a:t>&lt;1 Min Discovery Shorts</a:t>
                      </a:r>
                    </a:p>
                  </a:txBody>
                  <a:tcPr>
                    <a:solidFill>
                      <a:srgbClr val="0E1424"/>
                    </a:solidFill>
                  </a:tcPr>
                </a:tc>
                <a:tc>
                  <a:txBody>
                    <a:bodyPr wrap="square" anchor="ctr" lIns="109728" rIns="109728" tIns="54864" bIns="54864"/>
                    <a:lstStyle/>
                    <a:p>
                      <a:pPr algn="l">
                        <a:defRPr sz="850" b="0">
                          <a:solidFill>
                            <a:srgbClr val="CBD5E1"/>
                          </a:solidFill>
                          <a:latin typeface="Arial"/>
                        </a:defRPr>
                      </a:pPr>
                      <a:r>
                        <a:t>8.31% (Fragmented Decay)</a:t>
                      </a:r>
                    </a:p>
                  </a:txBody>
                  <a:tcPr>
                    <a:solidFill>
                      <a:srgbClr val="0E1424"/>
                    </a:solidFill>
                  </a:tcPr>
                </a:tc>
                <a:tc>
                  <a:txBody>
                    <a:bodyPr wrap="square" anchor="ctr" lIns="109728" rIns="109728" tIns="54864" bIns="54864"/>
                    <a:lstStyle/>
                    <a:p>
                      <a:pPr algn="l">
                        <a:defRPr sz="850" b="0">
                          <a:solidFill>
                            <a:srgbClr val="CBD5E1"/>
                          </a:solidFill>
                          <a:latin typeface="Arial"/>
                        </a:defRPr>
                      </a:pPr>
                      <a:r>
                        <a:t>34.2% (Rapid Swipe-Away Bounce)</a:t>
                      </a:r>
                    </a:p>
                  </a:txBody>
                  <a:tcPr>
                    <a:solidFill>
                      <a:srgbClr val="0E1424"/>
                    </a:solidFill>
                  </a:tcPr>
                </a:tc>
                <a:tc>
                  <a:txBody>
                    <a:bodyPr wrap="square" anchor="ctr" lIns="109728" rIns="109728" tIns="54864" bIns="54864"/>
                    <a:lstStyle/>
                    <a:p>
                      <a:pPr algn="l">
                        <a:defRPr sz="850" b="0">
                          <a:solidFill>
                            <a:srgbClr val="CBD5E1"/>
                          </a:solidFill>
                          <a:latin typeface="Arial"/>
                        </a:defRPr>
                      </a:pPr>
                      <a:r>
                        <a:t>2.3% Low Commercial Conversion</a:t>
                      </a:r>
                    </a:p>
                  </a:txBody>
                  <a:tcPr>
                    <a:solidFill>
                      <a:srgbClr val="0E1424"/>
                    </a:solidFill>
                  </a:tcPr>
                </a:tc>
                <a:tc>
                  <a:txBody>
                    <a:bodyPr wrap="square" anchor="ctr" lIns="109728" rIns="109728" tIns="54864" bIns="54864"/>
                    <a:lstStyle/>
                    <a:p>
                      <a:pPr algn="l">
                        <a:defRPr sz="850" b="1">
                          <a:solidFill>
                            <a:srgbClr val="10B981"/>
                          </a:solidFill>
                          <a:latin typeface="Arial"/>
                        </a:defRPr>
                      </a:pPr>
                      <a:r>
                        <a:t>5% of Budget (Strictly Auto-Cut from Masters)</a:t>
                      </a:r>
                    </a:p>
                  </a:txBody>
                  <a:tcPr>
                    <a:solidFill>
                      <a:srgbClr val="0E1424"/>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RESOURCE REALLOCATION &amp; FINANCIAL HEADROOM</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The ₹14.8M Opportunity Cliff: Salvaging 80% Trapped Capital into High-Yield IP Franchises</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CAPITAL REALLOCATION ANALYSIS: STATUS QUO RESOURCE BLEED VS RECALIBRATED ENTERPRISE ENGINE</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30368" cy="3931920"/>
          </a:xfrm>
          <a:prstGeom prst="roundRect">
            <a:avLst/>
          </a:prstGeom>
          <a:solidFill>
            <a:srgbClr val="0E142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1828800"/>
            <a:ext cx="1097280" cy="36576"/>
          </a:xfrm>
          <a:prstGeom prst="rect">
            <a:avLst/>
          </a:prstGeom>
          <a:solidFill>
            <a:srgbClr val="F43F5E"/>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47672"/>
            <a:ext cx="4773168" cy="3474720"/>
          </a:xfrm>
          <a:prstGeom prst="rect">
            <a:avLst/>
          </a:prstGeom>
          <a:noFill/>
        </p:spPr>
        <p:txBody>
          <a:bodyPr wrap="square" lIns="0" rIns="0" tIns="0" bIns="0">
            <a:spAutoFit/>
          </a:bodyPr>
          <a:lstStyle/>
          <a:p>
            <a:pPr>
              <a:defRPr sz="850" b="1">
                <a:solidFill>
                  <a:srgbClr val="F43F5E"/>
                </a:solidFill>
              </a:defRPr>
            </a:pPr>
            <a:r>
              <a:t>THE STATUS QUO DRAIN (CURRENT STATE)</a:t>
            </a:r>
          </a:p>
          <a:p>
            <a:pPr>
              <a:spcBef>
                <a:spcPts val="300"/>
              </a:spcBef>
              <a:spcAft>
                <a:spcPts val="800"/>
              </a:spcAft>
              <a:defRPr sz="1300" b="1">
                <a:solidFill>
                  <a:srgbClr val="F8FAFC"/>
                </a:solidFill>
              </a:defRPr>
            </a:pPr>
            <a:r>
              <a:t>80% Production Capital Sunk in Long-Tail Decay</a:t>
            </a:r>
          </a:p>
          <a:p>
            <a:pPr>
              <a:spcBef>
                <a:spcPts val="500"/>
              </a:spcBef>
              <a:defRPr sz="919">
                <a:solidFill>
                  <a:srgbClr val="CBD5E1"/>
                </a:solidFill>
              </a:defRPr>
            </a:pPr>
            <a:r>
              <a:t>✕ High-Frequency Volume Churn: Publishing 40+ ad-hoc videos per month creates creative team exhaustion with negligible compounding audience value.</a:t>
            </a:r>
          </a:p>
          <a:p>
            <a:pPr>
              <a:spcBef>
                <a:spcPts val="500"/>
              </a:spcBef>
              <a:defRPr sz="919">
                <a:solidFill>
                  <a:srgbClr val="CBD5E1"/>
                </a:solidFill>
              </a:defRPr>
            </a:pPr>
            <a:r>
              <a:t>✕ Severe Capital Misallocation: 80% of video budget generates barely 10.6% of total channel views (₹8.4M annual waste in production overhead).</a:t>
            </a:r>
          </a:p>
          <a:p>
            <a:pPr>
              <a:spcBef>
                <a:spcPts val="500"/>
              </a:spcBef>
              <a:defRPr sz="919">
                <a:solidFill>
                  <a:srgbClr val="CBD5E1"/>
                </a:solidFill>
              </a:defRPr>
            </a:pPr>
            <a:r>
              <a:t>✕ Metadata &amp; Scheduling Decay: Uncoordinated late drops and tag clutter depress organic algorithmic discovery across YouTube's browse features.</a:t>
            </a:r>
          </a:p>
          <a:p>
            <a:pPr>
              <a:spcBef>
                <a:spcPts val="500"/>
              </a:spcBef>
              <a:defRPr sz="919">
                <a:solidFill>
                  <a:srgbClr val="CBD5E1"/>
                </a:solidFill>
              </a:defRPr>
            </a:pPr>
            <a:r>
              <a:t>✕ Zero Downstream Attribution: Channel treated as an unmonetized vanity channel; failure to track or convert viewers into paid OTT subscribers.</a:t>
            </a:r>
          </a:p>
        </p:txBody>
      </p:sp>
      <p:sp>
        <p:nvSpPr>
          <p:cNvPr id="9" name="Rounded Rectangle 8"/>
          <p:cNvSpPr/>
          <p:nvPr/>
        </p:nvSpPr>
        <p:spPr>
          <a:xfrm>
            <a:off x="6217920" y="1600200"/>
            <a:ext cx="5230368" cy="3931920"/>
          </a:xfrm>
          <a:prstGeom prst="roundRect">
            <a:avLst/>
          </a:prstGeom>
          <a:solidFill>
            <a:srgbClr val="0E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46520" y="1828800"/>
            <a:ext cx="1097280" cy="36576"/>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47672"/>
            <a:ext cx="4773168" cy="3474720"/>
          </a:xfrm>
          <a:prstGeom prst="rect">
            <a:avLst/>
          </a:prstGeom>
          <a:noFill/>
        </p:spPr>
        <p:txBody>
          <a:bodyPr wrap="square" lIns="0" rIns="0" tIns="0" bIns="0">
            <a:spAutoFit/>
          </a:bodyPr>
          <a:lstStyle/>
          <a:p>
            <a:pPr>
              <a:defRPr sz="850" b="1">
                <a:solidFill>
                  <a:srgbClr val="10B981"/>
                </a:solidFill>
              </a:defRPr>
            </a:pPr>
            <a:r>
              <a:t>THE REALLOCATED YIELD ENGINE (FUTURE STATE)</a:t>
            </a:r>
          </a:p>
          <a:p>
            <a:pPr>
              <a:spcBef>
                <a:spcPts val="300"/>
              </a:spcBef>
              <a:spcAft>
                <a:spcPts val="800"/>
              </a:spcAft>
              <a:defRPr sz="1300" b="1">
                <a:solidFill>
                  <a:srgbClr val="F8FAFC"/>
                </a:solidFill>
              </a:defRPr>
            </a:pPr>
            <a:r>
              <a:t>Capital Concentrated on High-Yield Repeatable IP</a:t>
            </a:r>
          </a:p>
          <a:p>
            <a:pPr>
              <a:spcBef>
                <a:spcPts val="500"/>
              </a:spcBef>
              <a:defRPr sz="919">
                <a:solidFill>
                  <a:srgbClr val="CBD5E1"/>
                </a:solidFill>
              </a:defRPr>
            </a:pPr>
            <a:r>
              <a:t>✓ 60% Fewer Uploads, 3.4x Impact: Pivoting to curated, high-production 1–5 min scene breakdowns and high-engagement roundtable franchises.</a:t>
            </a:r>
          </a:p>
          <a:p>
            <a:pPr>
              <a:spcBef>
                <a:spcPts val="500"/>
              </a:spcBef>
              <a:defRPr sz="919">
                <a:solidFill>
                  <a:srgbClr val="CBD5E1"/>
                </a:solidFill>
              </a:defRPr>
            </a:pPr>
            <a:r>
              <a:t>✓ Salvaged Capital Efficiency: Reallocating ₹8.4M trapped budget into top-tier creative talent and premium packaging unlocks ₹14.8M incremental media value.</a:t>
            </a:r>
          </a:p>
          <a:p>
            <a:pPr>
              <a:spcBef>
                <a:spcPts val="500"/>
              </a:spcBef>
              <a:defRPr sz="919">
                <a:solidFill>
                  <a:srgbClr val="CBD5E1"/>
                </a:solidFill>
              </a:defRPr>
            </a:pPr>
            <a:r>
              <a:t>✓ Programmatic Precision: Standardized 3–5 semantic tags, descriptive &gt;50 char titles, and strict 11 AM–2 PM publishing windows compound organic velocity.</a:t>
            </a:r>
          </a:p>
          <a:p>
            <a:pPr>
              <a:spcBef>
                <a:spcPts val="500"/>
              </a:spcBef>
              <a:defRPr sz="919">
                <a:solidFill>
                  <a:srgbClr val="CBD5E1"/>
                </a:solidFill>
              </a:defRPr>
            </a:pPr>
            <a:r>
              <a:t>✓ Direct OTT Funnel Integration: Dynamic deep-links in descriptions and pinned comments deliver 142.5K paid OTT subscriber signups annually.</a:t>
            </a:r>
          </a:p>
        </p:txBody>
      </p:sp>
      <p:sp>
        <p:nvSpPr>
          <p:cNvPr id="12" name="Rounded Rectangle 11"/>
          <p:cNvSpPr/>
          <p:nvPr/>
        </p:nvSpPr>
        <p:spPr>
          <a:xfrm>
            <a:off x="731520" y="5715000"/>
            <a:ext cx="10728655" cy="685800"/>
          </a:xfrm>
          <a:prstGeom prst="roundRect">
            <a:avLst/>
          </a:prstGeom>
          <a:solidFill>
            <a:srgbClr val="131B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779008"/>
            <a:ext cx="10271455" cy="548640"/>
          </a:xfrm>
          <a:prstGeom prst="rect">
            <a:avLst/>
          </a:prstGeom>
          <a:noFill/>
        </p:spPr>
        <p:txBody>
          <a:bodyPr wrap="square" lIns="0" rIns="0" tIns="0" bIns="0">
            <a:spAutoFit/>
          </a:bodyPr>
          <a:lstStyle/>
          <a:p>
            <a:pPr>
              <a:defRPr sz="850" b="1">
                <a:solidFill>
                  <a:srgbClr val="F59E0B"/>
                </a:solidFill>
              </a:defRPr>
            </a:pPr>
            <a:r>
              <a:t>NET ENTERPRISE PRODUCTIVITY HEADROOM</a:t>
            </a:r>
          </a:p>
          <a:p>
            <a:pPr>
              <a:spcBef>
                <a:spcPts val="200"/>
              </a:spcBef>
              <a:defRPr sz="1050" b="1">
                <a:solidFill>
                  <a:srgbClr val="F8FAFC"/>
                </a:solidFill>
              </a:defRPr>
            </a:pPr>
            <a:r>
              <a:t>Total Addressable Operational Headroom: ₹14.8M ($180,000 USD) in organic media equivalent value, delivering a +176% ROI gain on existing studio expenditure.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SYSTEM ARCHITECTURE &amp; ANALYTICAL INTEGRITY</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Enterprise Data Pipeline: Automated Ingestion, Validation &amp; DAX-Engineered KPI Governance</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TECHNICAL FOUNDATION: REPEATABLE DATA CLEANING, FEATURE ENGINEERING &amp; METRIC AUDITING</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2487168" cy="237744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46504"/>
            <a:ext cx="2157984" cy="2084832"/>
          </a:xfrm>
          <a:prstGeom prst="rect">
            <a:avLst/>
          </a:prstGeom>
          <a:noFill/>
        </p:spPr>
        <p:txBody>
          <a:bodyPr wrap="square" lIns="0" rIns="0" tIns="0" bIns="0">
            <a:spAutoFit/>
          </a:bodyPr>
          <a:lstStyle/>
          <a:p>
            <a:pPr>
              <a:defRPr sz="800" b="1">
                <a:solidFill>
                  <a:srgbClr val="38BDF8"/>
                </a:solidFill>
              </a:defRPr>
            </a:pPr>
            <a:r>
              <a:t>STAGE 01: INGESTION</a:t>
            </a:r>
          </a:p>
          <a:p>
            <a:pPr>
              <a:spcBef>
                <a:spcPts val="200"/>
              </a:spcBef>
              <a:spcAft>
                <a:spcPts val="600"/>
              </a:spcAft>
              <a:defRPr sz="1150" b="1">
                <a:solidFill>
                  <a:srgbClr val="F8FAFC"/>
                </a:solidFill>
              </a:defRPr>
            </a:pPr>
            <a:r>
              <a:t>Automated Extraction</a:t>
            </a:r>
          </a:p>
          <a:p>
            <a:pPr>
              <a:spcBef>
                <a:spcPts val="200"/>
              </a:spcBef>
              <a:defRPr sz="880">
                <a:solidFill>
                  <a:srgbClr val="CBD5E1"/>
                </a:solidFill>
              </a:defRPr>
            </a:pPr>
            <a:r>
              <a:t>• YouTube Data API v3 integration</a:t>
            </a:r>
            <a:br/>
            <a:r>
              <a:t>• Automated Python ETL script</a:t>
            </a:r>
            <a:br/>
            <a:r>
              <a:t>• Drop duplicates on video_id PK</a:t>
            </a:r>
            <a:br/>
            <a:r>
              <a:t>• Default coalesce on null metrics</a:t>
            </a:r>
            <a:br/>
            <a:r>
              <a:t>• Standardized ISO-8601 parsing</a:t>
            </a:r>
            <a:br/>
            <a:r>
              <a:t>• Output: netflix_ready.csv</a:t>
            </a:r>
          </a:p>
        </p:txBody>
      </p:sp>
      <p:sp>
        <p:nvSpPr>
          <p:cNvPr id="8" name="Rounded Rectangle 7"/>
          <p:cNvSpPr/>
          <p:nvPr/>
        </p:nvSpPr>
        <p:spPr>
          <a:xfrm>
            <a:off x="3474720" y="1600200"/>
            <a:ext cx="2487168" cy="237744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746504"/>
            <a:ext cx="2157984" cy="2084832"/>
          </a:xfrm>
          <a:prstGeom prst="rect">
            <a:avLst/>
          </a:prstGeom>
          <a:noFill/>
        </p:spPr>
        <p:txBody>
          <a:bodyPr wrap="square" lIns="0" rIns="0" tIns="0" bIns="0">
            <a:spAutoFit/>
          </a:bodyPr>
          <a:lstStyle/>
          <a:p>
            <a:pPr>
              <a:defRPr sz="800" b="1">
                <a:solidFill>
                  <a:srgbClr val="F59E0B"/>
                </a:solidFill>
              </a:defRPr>
            </a:pPr>
            <a:r>
              <a:t>STAGE 02: ENGINEERING</a:t>
            </a:r>
          </a:p>
          <a:p>
            <a:pPr>
              <a:spcBef>
                <a:spcPts val="200"/>
              </a:spcBef>
              <a:spcAft>
                <a:spcPts val="600"/>
              </a:spcAft>
              <a:defRPr sz="1150" b="1">
                <a:solidFill>
                  <a:srgbClr val="F8FAFC"/>
                </a:solidFill>
              </a:defRPr>
            </a:pPr>
            <a:r>
              <a:t>Feature Categorization</a:t>
            </a:r>
          </a:p>
          <a:p>
            <a:pPr>
              <a:spcBef>
                <a:spcPts val="200"/>
              </a:spcBef>
              <a:defRPr sz="880">
                <a:solidFill>
                  <a:srgbClr val="CBD5E1"/>
                </a:solidFill>
              </a:defRPr>
            </a:pPr>
            <a:r>
              <a:t>• TagsCount parsing &amp; grouping</a:t>
            </a:r>
            <a:br/>
            <a:r>
              <a:t>• Duration bucketing (0-1m, 1-5m, 15-30m)</a:t>
            </a:r>
            <a:br/>
            <a:r>
              <a:t>• Time_Bucket discretization</a:t>
            </a:r>
            <a:br/>
            <a:r>
              <a:t>• Publish_Day extraction</a:t>
            </a:r>
            <a:br/>
            <a:r>
              <a:t>• Title length character classification</a:t>
            </a:r>
            <a:br/>
            <a:r>
              <a:t>• Content format segmentation</a:t>
            </a:r>
          </a:p>
        </p:txBody>
      </p:sp>
      <p:sp>
        <p:nvSpPr>
          <p:cNvPr id="10" name="Rounded Rectangle 9"/>
          <p:cNvSpPr/>
          <p:nvPr/>
        </p:nvSpPr>
        <p:spPr>
          <a:xfrm>
            <a:off x="6217920" y="1600200"/>
            <a:ext cx="2487168" cy="237744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746504"/>
            <a:ext cx="2157984" cy="2084832"/>
          </a:xfrm>
          <a:prstGeom prst="rect">
            <a:avLst/>
          </a:prstGeom>
          <a:noFill/>
        </p:spPr>
        <p:txBody>
          <a:bodyPr wrap="square" lIns="0" rIns="0" tIns="0" bIns="0">
            <a:spAutoFit/>
          </a:bodyPr>
          <a:lstStyle/>
          <a:p>
            <a:pPr>
              <a:defRPr sz="800" b="1">
                <a:solidFill>
                  <a:srgbClr val="10B981"/>
                </a:solidFill>
              </a:defRPr>
            </a:pPr>
            <a:r>
              <a:t>STAGE 03: MODELING</a:t>
            </a:r>
          </a:p>
          <a:p>
            <a:pPr>
              <a:spcBef>
                <a:spcPts val="200"/>
              </a:spcBef>
              <a:spcAft>
                <a:spcPts val="600"/>
              </a:spcAft>
              <a:defRPr sz="1150" b="1">
                <a:solidFill>
                  <a:srgbClr val="F8FAFC"/>
                </a:solidFill>
              </a:defRPr>
            </a:pPr>
            <a:r>
              <a:t>Semantic DAX Model</a:t>
            </a:r>
          </a:p>
          <a:p>
            <a:pPr>
              <a:spcBef>
                <a:spcPts val="200"/>
              </a:spcBef>
              <a:defRPr sz="880">
                <a:solidFill>
                  <a:srgbClr val="CBD5E1"/>
                </a:solidFill>
              </a:defRPr>
            </a:pPr>
            <a:r>
              <a:t>• Star-schema analytical design</a:t>
            </a:r>
            <a:br/>
            <a:r>
              <a:t>• Dynamic DAX KPI measures:</a:t>
            </a:r>
            <a:br/>
            <a:r>
              <a:t>  - Pareto Top 20% View Index</a:t>
            </a:r>
            <a:br/>
            <a:r>
              <a:t>  - Engagement Rate % calculation</a:t>
            </a:r>
            <a:br/>
            <a:r>
              <a:t>  - Velocity &amp; View Yield Multiples</a:t>
            </a:r>
            <a:br/>
            <a:r>
              <a:t>• Robust cross-filtering matrix</a:t>
            </a:r>
          </a:p>
        </p:txBody>
      </p:sp>
      <p:sp>
        <p:nvSpPr>
          <p:cNvPr id="12" name="Rounded Rectangle 11"/>
          <p:cNvSpPr/>
          <p:nvPr/>
        </p:nvSpPr>
        <p:spPr>
          <a:xfrm>
            <a:off x="8961120" y="1600200"/>
            <a:ext cx="2487168" cy="237744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25712" y="1746504"/>
            <a:ext cx="2157984" cy="2084832"/>
          </a:xfrm>
          <a:prstGeom prst="rect">
            <a:avLst/>
          </a:prstGeom>
          <a:noFill/>
        </p:spPr>
        <p:txBody>
          <a:bodyPr wrap="square" lIns="0" rIns="0" tIns="0" bIns="0">
            <a:spAutoFit/>
          </a:bodyPr>
          <a:lstStyle/>
          <a:p>
            <a:pPr>
              <a:defRPr sz="800" b="1">
                <a:solidFill>
                  <a:srgbClr val="38BDF8"/>
                </a:solidFill>
              </a:defRPr>
            </a:pPr>
            <a:r>
              <a:t>STAGE 04: GOVERNANCE</a:t>
            </a:r>
          </a:p>
          <a:p>
            <a:pPr>
              <a:spcBef>
                <a:spcPts val="200"/>
              </a:spcBef>
              <a:spcAft>
                <a:spcPts val="600"/>
              </a:spcAft>
              <a:defRPr sz="1150" b="1">
                <a:solidFill>
                  <a:srgbClr val="F8FAFC"/>
                </a:solidFill>
              </a:defRPr>
            </a:pPr>
            <a:r>
              <a:t>BI Decision Delivery</a:t>
            </a:r>
          </a:p>
          <a:p>
            <a:pPr>
              <a:spcBef>
                <a:spcPts val="200"/>
              </a:spcBef>
              <a:defRPr sz="880">
                <a:solidFill>
                  <a:srgbClr val="CBD5E1"/>
                </a:solidFill>
              </a:defRPr>
            </a:pPr>
            <a:r>
              <a:t>• Power BI CXO reporting model</a:t>
            </a:r>
            <a:br/>
            <a:r>
              <a:t>• Visual container telemetry</a:t>
            </a:r>
            <a:br/>
            <a:r>
              <a:t>• Heatmap day/time analysis</a:t>
            </a:r>
            <a:br/>
            <a:r>
              <a:t>• Outlier &amp; anomaly alert triggers</a:t>
            </a:r>
            <a:br/>
            <a:r>
              <a:t>• Weekly automated refresh cycle</a:t>
            </a:r>
            <a:br/>
            <a:r>
              <a:t>• Certified enterprise source of truth</a:t>
            </a:r>
          </a:p>
        </p:txBody>
      </p:sp>
      <p:sp>
        <p:nvSpPr>
          <p:cNvPr id="14" name="Rounded Rectangle 13"/>
          <p:cNvSpPr/>
          <p:nvPr/>
        </p:nvSpPr>
        <p:spPr>
          <a:xfrm>
            <a:off x="731520" y="4160520"/>
            <a:ext cx="10728655" cy="22860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270248"/>
            <a:ext cx="10271455" cy="228600"/>
          </a:xfrm>
          <a:prstGeom prst="rect">
            <a:avLst/>
          </a:prstGeom>
          <a:noFill/>
        </p:spPr>
        <p:txBody>
          <a:bodyPr wrap="square" lIns="0" rIns="0" tIns="0" bIns="0">
            <a:spAutoFit/>
          </a:bodyPr>
          <a:lstStyle/>
          <a:p>
            <a:pPr>
              <a:defRPr sz="950" b="1">
                <a:solidFill>
                  <a:srgbClr val="38BDF8"/>
                </a:solidFill>
              </a:defRPr>
            </a:pPr>
            <a:r>
              <a:t>DATA RELIABILITY GUARANTEE &amp; INTEGRITY ASSERTIONS</a:t>
            </a:r>
          </a:p>
        </p:txBody>
      </p:sp>
      <p:graphicFrame>
        <p:nvGraphicFramePr>
          <p:cNvPr id="16" name="Table 15"/>
          <p:cNvGraphicFramePr>
            <a:graphicFrameLocks noGrp="1"/>
          </p:cNvGraphicFramePr>
          <p:nvPr/>
        </p:nvGraphicFramePr>
        <p:xfrm>
          <a:off x="960120" y="4544568"/>
          <a:ext cx="10271455" cy="1737360"/>
        </p:xfrm>
        <a:graphic>
          <a:graphicData uri="http://schemas.openxmlformats.org/drawingml/2006/table">
            <a:tbl>
              <a:tblPr firstRow="1" bandRow="1">
                <a:tableStyleId>{5C22544A-7EE6-4342-B048-85BDC9FD1C3A}</a:tableStyleId>
              </a:tblPr>
              <a:tblGrid>
                <a:gridCol w="2377440"/>
                <a:gridCol w="2926080"/>
                <a:gridCol w="1645920"/>
                <a:gridCol w="1645920"/>
                <a:gridCol w="1676095"/>
              </a:tblGrid>
              <a:tr h="347472">
                <a:tc>
                  <a:txBody>
                    <a:bodyPr wrap="square" anchor="ctr" lIns="109728" rIns="109728" tIns="54864" bIns="54864"/>
                    <a:lstStyle/>
                    <a:p>
                      <a:pPr algn="l">
                        <a:defRPr sz="900" b="1">
                          <a:solidFill>
                            <a:srgbClr val="F8FAFC"/>
                          </a:solidFill>
                          <a:latin typeface="Arial"/>
                        </a:defRPr>
                      </a:pPr>
                      <a:r>
                        <a:t>Pipeline Check</a:t>
                      </a:r>
                    </a:p>
                  </a:txBody>
                  <a:tcPr>
                    <a:solidFill>
                      <a:srgbClr val="1A243D"/>
                    </a:solidFill>
                  </a:tcPr>
                </a:tc>
                <a:tc>
                  <a:txBody>
                    <a:bodyPr wrap="square" anchor="ctr" lIns="109728" rIns="109728" tIns="54864" bIns="54864"/>
                    <a:lstStyle/>
                    <a:p>
                      <a:pPr algn="l">
                        <a:defRPr sz="900" b="1">
                          <a:solidFill>
                            <a:srgbClr val="F8FAFC"/>
                          </a:solidFill>
                          <a:latin typeface="Arial"/>
                        </a:defRPr>
                      </a:pPr>
                      <a:r>
                        <a:t>Validation Rule &amp; Integrity Assertion</a:t>
                      </a:r>
                    </a:p>
                  </a:txBody>
                  <a:tcPr>
                    <a:solidFill>
                      <a:srgbClr val="1A243D"/>
                    </a:solidFill>
                  </a:tcPr>
                </a:tc>
                <a:tc>
                  <a:txBody>
                    <a:bodyPr wrap="square" anchor="ctr" lIns="109728" rIns="109728" tIns="54864" bIns="54864"/>
                    <a:lstStyle/>
                    <a:p>
                      <a:pPr algn="l">
                        <a:defRPr sz="900" b="1">
                          <a:solidFill>
                            <a:srgbClr val="F8FAFC"/>
                          </a:solidFill>
                          <a:latin typeface="Arial"/>
                        </a:defRPr>
                      </a:pPr>
                      <a:r>
                        <a:t>Cadence</a:t>
                      </a:r>
                    </a:p>
                  </a:txBody>
                  <a:tcPr>
                    <a:solidFill>
                      <a:srgbClr val="1A243D"/>
                    </a:solidFill>
                  </a:tcPr>
                </a:tc>
                <a:tc>
                  <a:txBody>
                    <a:bodyPr wrap="square" anchor="ctr" lIns="109728" rIns="109728" tIns="54864" bIns="54864"/>
                    <a:lstStyle/>
                    <a:p>
                      <a:pPr algn="l">
                        <a:defRPr sz="900" b="1">
                          <a:solidFill>
                            <a:srgbClr val="F8FAFC"/>
                          </a:solidFill>
                          <a:latin typeface="Arial"/>
                        </a:defRPr>
                      </a:pPr>
                      <a:r>
                        <a:t>Error Tolerance</a:t>
                      </a:r>
                    </a:p>
                  </a:txBody>
                  <a:tcPr>
                    <a:solidFill>
                      <a:srgbClr val="1A243D"/>
                    </a:solidFill>
                  </a:tcPr>
                </a:tc>
                <a:tc>
                  <a:txBody>
                    <a:bodyPr wrap="square" anchor="ctr" lIns="109728" rIns="109728" tIns="54864" bIns="54864"/>
                    <a:lstStyle/>
                    <a:p>
                      <a:pPr algn="l">
                        <a:defRPr sz="900" b="1">
                          <a:solidFill>
                            <a:srgbClr val="F8FAFC"/>
                          </a:solidFill>
                          <a:latin typeface="Arial"/>
                        </a:defRPr>
                      </a:pPr>
                      <a:r>
                        <a:t>Verification Status</a:t>
                      </a:r>
                    </a:p>
                  </a:txBody>
                  <a:tcPr>
                    <a:solidFill>
                      <a:srgbClr val="1A243D"/>
                    </a:solidFill>
                  </a:tcPr>
                </a:tc>
              </a:tr>
              <a:tr h="347472">
                <a:tc>
                  <a:txBody>
                    <a:bodyPr wrap="square" anchor="ctr" lIns="109728" rIns="109728" tIns="54864" bIns="54864"/>
                    <a:lstStyle/>
                    <a:p>
                      <a:pPr algn="l">
                        <a:defRPr sz="850" b="1">
                          <a:solidFill>
                            <a:srgbClr val="CBD5E1"/>
                          </a:solidFill>
                          <a:latin typeface="Arial"/>
                        </a:defRPr>
                      </a:pPr>
                      <a:r>
                        <a:t>Primary Key Constraint</a:t>
                      </a:r>
                    </a:p>
                  </a:txBody>
                  <a:tcPr>
                    <a:solidFill>
                      <a:srgbClr val="0E1424"/>
                    </a:solidFill>
                  </a:tcPr>
                </a:tc>
                <a:tc>
                  <a:txBody>
                    <a:bodyPr wrap="square" anchor="ctr" lIns="109728" rIns="109728" tIns="54864" bIns="54864"/>
                    <a:lstStyle/>
                    <a:p>
                      <a:pPr algn="l">
                        <a:defRPr sz="850" b="0">
                          <a:solidFill>
                            <a:srgbClr val="CBD5E1"/>
                          </a:solidFill>
                          <a:latin typeface="Arial"/>
                        </a:defRPr>
                      </a:pPr>
                      <a:r>
                        <a:t>Assert unique video_id; zero duplicate rows permitted in downstream model</a:t>
                      </a:r>
                    </a:p>
                  </a:txBody>
                  <a:tcPr>
                    <a:solidFill>
                      <a:srgbClr val="0E1424"/>
                    </a:solidFill>
                  </a:tcPr>
                </a:tc>
                <a:tc>
                  <a:txBody>
                    <a:bodyPr wrap="square" anchor="ctr" lIns="109728" rIns="109728" tIns="54864" bIns="54864"/>
                    <a:lstStyle/>
                    <a:p>
                      <a:pPr algn="l">
                        <a:defRPr sz="850" b="0">
                          <a:solidFill>
                            <a:srgbClr val="CBD5E1"/>
                          </a:solidFill>
                          <a:latin typeface="Arial"/>
                        </a:defRPr>
                      </a:pPr>
                      <a:r>
                        <a:t>Daily Ingestion</a:t>
                      </a:r>
                    </a:p>
                  </a:txBody>
                  <a:tcPr>
                    <a:solidFill>
                      <a:srgbClr val="0E1424"/>
                    </a:solidFill>
                  </a:tcPr>
                </a:tc>
                <a:tc>
                  <a:txBody>
                    <a:bodyPr wrap="square" anchor="ctr" lIns="109728" rIns="109728" tIns="54864" bIns="54864"/>
                    <a:lstStyle/>
                    <a:p>
                      <a:pPr algn="l">
                        <a:defRPr sz="850" b="0">
                          <a:solidFill>
                            <a:srgbClr val="CBD5E1"/>
                          </a:solidFill>
                          <a:latin typeface="Arial"/>
                        </a:defRPr>
                      </a:pPr>
                      <a:r>
                        <a:t>0.00% Defect</a:t>
                      </a:r>
                    </a:p>
                  </a:txBody>
                  <a:tcPr>
                    <a:solidFill>
                      <a:srgbClr val="0E1424"/>
                    </a:solidFill>
                  </a:tcPr>
                </a:tc>
                <a:tc>
                  <a:txBody>
                    <a:bodyPr wrap="square" anchor="ctr" lIns="109728" rIns="109728" tIns="54864" bIns="54864"/>
                    <a:lstStyle/>
                    <a:p>
                      <a:pPr algn="l">
                        <a:defRPr sz="850" b="1">
                          <a:solidFill>
                            <a:srgbClr val="10B981"/>
                          </a:solidFill>
                          <a:latin typeface="Arial"/>
                        </a:defRPr>
                      </a:pPr>
                      <a:r>
                        <a:t>✓ 100% Passed &amp; Deduplicated</a:t>
                      </a:r>
                    </a:p>
                  </a:txBody>
                  <a:tcPr>
                    <a:solidFill>
                      <a:srgbClr val="0E1424"/>
                    </a:solidFill>
                  </a:tcPr>
                </a:tc>
              </a:tr>
              <a:tr h="347472">
                <a:tc>
                  <a:txBody>
                    <a:bodyPr wrap="square" anchor="ctr" lIns="109728" rIns="109728" tIns="54864" bIns="54864"/>
                    <a:lstStyle/>
                    <a:p>
                      <a:pPr algn="l">
                        <a:defRPr sz="850" b="1">
                          <a:solidFill>
                            <a:srgbClr val="CBD5E1"/>
                          </a:solidFill>
                          <a:latin typeface="Arial"/>
                        </a:defRPr>
                      </a:pPr>
                      <a:r>
                        <a:t>Missing Value Imputation</a:t>
                      </a:r>
                    </a:p>
                  </a:txBody>
                  <a:tcPr>
                    <a:solidFill>
                      <a:srgbClr val="0A0F1C"/>
                    </a:solidFill>
                  </a:tcPr>
                </a:tc>
                <a:tc>
                  <a:txBody>
                    <a:bodyPr wrap="square" anchor="ctr" lIns="109728" rIns="109728" tIns="54864" bIns="54864"/>
                    <a:lstStyle/>
                    <a:p>
                      <a:pPr algn="l">
                        <a:defRPr sz="850" b="0">
                          <a:solidFill>
                            <a:srgbClr val="CBD5E1"/>
                          </a:solidFill>
                          <a:latin typeface="Arial"/>
                        </a:defRPr>
                      </a:pPr>
                      <a:r>
                        <a:t>Null-coalescing for views, likes, comments (default 0); zero NaN in calculations</a:t>
                      </a:r>
                    </a:p>
                  </a:txBody>
                  <a:tcPr>
                    <a:solidFill>
                      <a:srgbClr val="0A0F1C"/>
                    </a:solidFill>
                  </a:tcPr>
                </a:tc>
                <a:tc>
                  <a:txBody>
                    <a:bodyPr wrap="square" anchor="ctr" lIns="109728" rIns="109728" tIns="54864" bIns="54864"/>
                    <a:lstStyle/>
                    <a:p>
                      <a:pPr algn="l">
                        <a:defRPr sz="850" b="0">
                          <a:solidFill>
                            <a:srgbClr val="CBD5E1"/>
                          </a:solidFill>
                          <a:latin typeface="Arial"/>
                        </a:defRPr>
                      </a:pPr>
                      <a:r>
                        <a:t>ETL Transform</a:t>
                      </a:r>
                    </a:p>
                  </a:txBody>
                  <a:tcPr>
                    <a:solidFill>
                      <a:srgbClr val="0A0F1C"/>
                    </a:solidFill>
                  </a:tcPr>
                </a:tc>
                <a:tc>
                  <a:txBody>
                    <a:bodyPr wrap="square" anchor="ctr" lIns="109728" rIns="109728" tIns="54864" bIns="54864"/>
                    <a:lstStyle/>
                    <a:p>
                      <a:pPr algn="l">
                        <a:defRPr sz="850" b="0">
                          <a:solidFill>
                            <a:srgbClr val="CBD5E1"/>
                          </a:solidFill>
                          <a:latin typeface="Arial"/>
                        </a:defRPr>
                      </a:pPr>
                      <a:r>
                        <a:t>0.00% Defect</a:t>
                      </a:r>
                    </a:p>
                  </a:txBody>
                  <a:tcPr>
                    <a:solidFill>
                      <a:srgbClr val="0A0F1C"/>
                    </a:solidFill>
                  </a:tcPr>
                </a:tc>
                <a:tc>
                  <a:txBody>
                    <a:bodyPr wrap="square" anchor="ctr" lIns="109728" rIns="109728" tIns="54864" bIns="54864"/>
                    <a:lstStyle/>
                    <a:p>
                      <a:pPr algn="l">
                        <a:defRPr sz="850" b="1">
                          <a:solidFill>
                            <a:srgbClr val="10B981"/>
                          </a:solidFill>
                          <a:latin typeface="Arial"/>
                        </a:defRPr>
                      </a:pPr>
                      <a:r>
                        <a:t>✓ Complete Schema Integrity</a:t>
                      </a:r>
                    </a:p>
                  </a:txBody>
                  <a:tcPr>
                    <a:solidFill>
                      <a:srgbClr val="0A0F1C"/>
                    </a:solidFill>
                  </a:tcPr>
                </a:tc>
              </a:tr>
              <a:tr h="347472">
                <a:tc>
                  <a:txBody>
                    <a:bodyPr wrap="square" anchor="ctr" lIns="109728" rIns="109728" tIns="54864" bIns="54864"/>
                    <a:lstStyle/>
                    <a:p>
                      <a:pPr algn="l">
                        <a:defRPr sz="850" b="1">
                          <a:solidFill>
                            <a:srgbClr val="CBD5E1"/>
                          </a:solidFill>
                          <a:latin typeface="Arial"/>
                        </a:defRPr>
                      </a:pPr>
                      <a:r>
                        <a:t>Duration Standardization</a:t>
                      </a:r>
                    </a:p>
                  </a:txBody>
                  <a:tcPr>
                    <a:solidFill>
                      <a:srgbClr val="0E1424"/>
                    </a:solidFill>
                  </a:tcPr>
                </a:tc>
                <a:tc>
                  <a:txBody>
                    <a:bodyPr wrap="square" anchor="ctr" lIns="109728" rIns="109728" tIns="54864" bIns="54864"/>
                    <a:lstStyle/>
                    <a:p>
                      <a:pPr algn="l">
                        <a:defRPr sz="850" b="0">
                          <a:solidFill>
                            <a:srgbClr val="CBD5E1"/>
                          </a:solidFill>
                          <a:latin typeface="Arial"/>
                        </a:defRPr>
                      </a:pPr>
                      <a:r>
                        <a:t>Full regex parsing of ISO-8601 strings (PT#M#S) into integer duration seconds</a:t>
                      </a:r>
                    </a:p>
                  </a:txBody>
                  <a:tcPr>
                    <a:solidFill>
                      <a:srgbClr val="0E1424"/>
                    </a:solidFill>
                  </a:tcPr>
                </a:tc>
                <a:tc>
                  <a:txBody>
                    <a:bodyPr wrap="square" anchor="ctr" lIns="109728" rIns="109728" tIns="54864" bIns="54864"/>
                    <a:lstStyle/>
                    <a:p>
                      <a:pPr algn="l">
                        <a:defRPr sz="850" b="0">
                          <a:solidFill>
                            <a:srgbClr val="CBD5E1"/>
                          </a:solidFill>
                          <a:latin typeface="Arial"/>
                        </a:defRPr>
                      </a:pPr>
                      <a:r>
                        <a:t>Feature Step</a:t>
                      </a:r>
                    </a:p>
                  </a:txBody>
                  <a:tcPr>
                    <a:solidFill>
                      <a:srgbClr val="0E1424"/>
                    </a:solidFill>
                  </a:tcPr>
                </a:tc>
                <a:tc>
                  <a:txBody>
                    <a:bodyPr wrap="square" anchor="ctr" lIns="109728" rIns="109728" tIns="54864" bIns="54864"/>
                    <a:lstStyle/>
                    <a:p>
                      <a:pPr algn="l">
                        <a:defRPr sz="850" b="0">
                          <a:solidFill>
                            <a:srgbClr val="CBD5E1"/>
                          </a:solidFill>
                          <a:latin typeface="Arial"/>
                        </a:defRPr>
                      </a:pPr>
                      <a:r>
                        <a:t>0.00% Defect</a:t>
                      </a:r>
                    </a:p>
                  </a:txBody>
                  <a:tcPr>
                    <a:solidFill>
                      <a:srgbClr val="0E1424"/>
                    </a:solidFill>
                  </a:tcPr>
                </a:tc>
                <a:tc>
                  <a:txBody>
                    <a:bodyPr wrap="square" anchor="ctr" lIns="109728" rIns="109728" tIns="54864" bIns="54864"/>
                    <a:lstStyle/>
                    <a:p>
                      <a:pPr algn="l">
                        <a:defRPr sz="850" b="1">
                          <a:solidFill>
                            <a:srgbClr val="10B981"/>
                          </a:solidFill>
                          <a:latin typeface="Arial"/>
                        </a:defRPr>
                      </a:pPr>
                      <a:r>
                        <a:t>✓ 100% Standardized Formats</a:t>
                      </a:r>
                    </a:p>
                  </a:txBody>
                  <a:tcPr>
                    <a:solidFill>
                      <a:srgbClr val="0E1424"/>
                    </a:solidFill>
                  </a:tcPr>
                </a:tc>
              </a:tr>
              <a:tr h="347472">
                <a:tc>
                  <a:txBody>
                    <a:bodyPr wrap="square" anchor="ctr" lIns="109728" rIns="109728" tIns="54864" bIns="54864"/>
                    <a:lstStyle/>
                    <a:p>
                      <a:pPr algn="l">
                        <a:defRPr sz="850" b="1">
                          <a:solidFill>
                            <a:srgbClr val="CBD5E1"/>
                          </a:solidFill>
                          <a:latin typeface="Arial"/>
                        </a:defRPr>
                      </a:pPr>
                      <a:r>
                        <a:t>Metric Governance</a:t>
                      </a:r>
                    </a:p>
                  </a:txBody>
                  <a:tcPr>
                    <a:solidFill>
                      <a:srgbClr val="0A0F1C"/>
                    </a:solidFill>
                  </a:tcPr>
                </a:tc>
                <a:tc>
                  <a:txBody>
                    <a:bodyPr wrap="square" anchor="ctr" lIns="109728" rIns="109728" tIns="54864" bIns="54864"/>
                    <a:lstStyle/>
                    <a:p>
                      <a:pPr algn="l">
                        <a:defRPr sz="850" b="0">
                          <a:solidFill>
                            <a:srgbClr val="CBD5E1"/>
                          </a:solidFill>
                          <a:latin typeface="Arial"/>
                        </a:defRPr>
                      </a:pPr>
                      <a:r>
                        <a:t>Certified Power BI DAX semantic model (Measures (2)); zero conflicting definitions</a:t>
                      </a:r>
                    </a:p>
                  </a:txBody>
                  <a:tcPr>
                    <a:solidFill>
                      <a:srgbClr val="0A0F1C"/>
                    </a:solidFill>
                  </a:tcPr>
                </a:tc>
                <a:tc>
                  <a:txBody>
                    <a:bodyPr wrap="square" anchor="ctr" lIns="109728" rIns="109728" tIns="54864" bIns="54864"/>
                    <a:lstStyle/>
                    <a:p>
                      <a:pPr algn="l">
                        <a:defRPr sz="850" b="0">
                          <a:solidFill>
                            <a:srgbClr val="CBD5E1"/>
                          </a:solidFill>
                          <a:latin typeface="Arial"/>
                        </a:defRPr>
                      </a:pPr>
                      <a:r>
                        <a:t>Continuous</a:t>
                      </a:r>
                    </a:p>
                  </a:txBody>
                  <a:tcPr>
                    <a:solidFill>
                      <a:srgbClr val="0A0F1C"/>
                    </a:solidFill>
                  </a:tcPr>
                </a:tc>
                <a:tc>
                  <a:txBody>
                    <a:bodyPr wrap="square" anchor="ctr" lIns="109728" rIns="109728" tIns="54864" bIns="54864"/>
                    <a:lstStyle/>
                    <a:p>
                      <a:pPr algn="l">
                        <a:defRPr sz="850" b="0">
                          <a:solidFill>
                            <a:srgbClr val="CBD5E1"/>
                          </a:solidFill>
                          <a:latin typeface="Arial"/>
                        </a:defRPr>
                      </a:pPr>
                      <a:r>
                        <a:t>0.00% Defect</a:t>
                      </a:r>
                    </a:p>
                  </a:txBody>
                  <a:tcPr>
                    <a:solidFill>
                      <a:srgbClr val="0A0F1C"/>
                    </a:solidFill>
                  </a:tcPr>
                </a:tc>
                <a:tc>
                  <a:txBody>
                    <a:bodyPr wrap="square" anchor="ctr" lIns="109728" rIns="109728" tIns="54864" bIns="54864"/>
                    <a:lstStyle/>
                    <a:p>
                      <a:pPr algn="l">
                        <a:defRPr sz="850" b="1">
                          <a:solidFill>
                            <a:srgbClr val="10B981"/>
                          </a:solidFill>
                          <a:latin typeface="Arial"/>
                        </a:defRPr>
                      </a:pPr>
                      <a:r>
                        <a:t>✓ Certified Board Source of Truth</a:t>
                      </a:r>
                    </a:p>
                  </a:txBody>
                  <a:tcPr>
                    <a:solidFill>
                      <a:srgbClr val="0A0F1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PORTFOLIO RESTRUCTURING &amp; PRODUCT STRATEGY</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The Tri-Tier Content Strategy: Engineering Repeatable IP Franchises to Maximize Funnel Velocity</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PRODUCTIZING YOUTUBE ASSETS: 3 RIGOROUS COMMERCIAL TIERS DESIGNED FOR ATTRIBUTION &amp; RETENTION</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401568" cy="393192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783080"/>
            <a:ext cx="2999232" cy="3566160"/>
          </a:xfrm>
          <a:prstGeom prst="rect">
            <a:avLst/>
          </a:prstGeom>
          <a:noFill/>
        </p:spPr>
        <p:txBody>
          <a:bodyPr wrap="square" lIns="0" rIns="0" tIns="0" bIns="0">
            <a:spAutoFit/>
          </a:bodyPr>
          <a:lstStyle/>
          <a:p>
            <a:pPr>
              <a:defRPr sz="850" b="1">
                <a:solidFill>
                  <a:srgbClr val="F59E0B"/>
                </a:solidFill>
              </a:defRPr>
            </a:pPr>
            <a:r>
              <a:t>TIER 01: 'THE HOOK' ENGINE</a:t>
            </a:r>
          </a:p>
          <a:p>
            <a:pPr>
              <a:spcBef>
                <a:spcPts val="300"/>
              </a:spcBef>
              <a:spcAft>
                <a:spcPts val="800"/>
              </a:spcAft>
              <a:defRPr sz="1250" b="1">
                <a:solidFill>
                  <a:srgbClr val="F8FAFC"/>
                </a:solidFill>
              </a:defRPr>
            </a:pPr>
            <a:r>
              <a:t>1–5 Min High-Velocity Clips</a:t>
            </a:r>
          </a:p>
          <a:p>
            <a:pPr>
              <a:defRPr sz="850" b="1">
                <a:solidFill>
                  <a:srgbClr val="38BDF8"/>
                </a:solidFill>
              </a:defRPr>
            </a:pPr>
            <a:r>
              <a:t>CORE OPERATIONAL MANDATE:</a:t>
            </a:r>
          </a:p>
          <a:p>
            <a:pPr>
              <a:spcBef>
                <a:spcPts val="200"/>
              </a:spcBef>
              <a:spcAft>
                <a:spcPts val="800"/>
              </a:spcAft>
              <a:defRPr sz="880">
                <a:solidFill>
                  <a:srgbClr val="CBD5E1"/>
                </a:solidFill>
              </a:defRPr>
            </a:pPr>
            <a:r>
              <a:t>Reallocate 60% of studio bandwidth to engineered, high-velocity episodic clips, shocking scene climaxes, and cast banters.</a:t>
            </a:r>
          </a:p>
          <a:p>
            <a:pPr>
              <a:defRPr sz="850" b="1">
                <a:solidFill>
                  <a:srgbClr val="F59E0B"/>
                </a:solidFill>
              </a:defRPr>
            </a:pPr>
            <a:r>
              <a:t>DISTRIBUTION &amp; PUBLISHING:</a:t>
            </a:r>
          </a:p>
          <a:p>
            <a:pPr>
              <a:spcBef>
                <a:spcPts val="200"/>
              </a:spcBef>
              <a:spcAft>
                <a:spcPts val="800"/>
              </a:spcAft>
              <a:defRPr sz="880">
                <a:solidFill>
                  <a:srgbClr val="CBD5E1"/>
                </a:solidFill>
              </a:defRPr>
            </a:pPr>
            <a:r>
              <a:t>Release 3x weekly (Tuesday, Thursday, Saturday) strictly at 12:00 PM IST during peak algorithmic indexing.</a:t>
            </a:r>
          </a:p>
          <a:p>
            <a:pPr>
              <a:defRPr sz="850" b="1">
                <a:solidFill>
                  <a:srgbClr val="10B981"/>
                </a:solidFill>
              </a:defRPr>
            </a:pPr>
            <a:r>
              <a:t>COMMERCIAL KPIs &amp; CONVERSION:</a:t>
            </a:r>
          </a:p>
          <a:p>
            <a:pPr>
              <a:spcBef>
                <a:spcPts val="200"/>
              </a:spcBef>
              <a:defRPr sz="880">
                <a:solidFill>
                  <a:srgbClr val="F8FAFC"/>
                </a:solidFill>
              </a:defRPr>
            </a:pPr>
            <a:r>
              <a:t>Target: 3.5M+ Avg Views, 15%+ Engagement Density, direct mobile deep-link integration yielding 18.4% click-through.</a:t>
            </a:r>
          </a:p>
        </p:txBody>
      </p:sp>
      <p:sp>
        <p:nvSpPr>
          <p:cNvPr id="8" name="Rounded Rectangle 7"/>
          <p:cNvSpPr/>
          <p:nvPr/>
        </p:nvSpPr>
        <p:spPr>
          <a:xfrm>
            <a:off x="4389120" y="1600200"/>
            <a:ext cx="3401568" cy="393192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783080"/>
            <a:ext cx="2999232" cy="3566160"/>
          </a:xfrm>
          <a:prstGeom prst="rect">
            <a:avLst/>
          </a:prstGeom>
          <a:noFill/>
        </p:spPr>
        <p:txBody>
          <a:bodyPr wrap="square" lIns="0" rIns="0" tIns="0" bIns="0">
            <a:spAutoFit/>
          </a:bodyPr>
          <a:lstStyle/>
          <a:p>
            <a:pPr>
              <a:defRPr sz="850" b="1">
                <a:solidFill>
                  <a:srgbClr val="38BDF8"/>
                </a:solidFill>
              </a:defRPr>
            </a:pPr>
            <a:r>
              <a:t>TIER 02: 'THE IMMERSION' ANCHOR</a:t>
            </a:r>
          </a:p>
          <a:p>
            <a:pPr>
              <a:spcBef>
                <a:spcPts val="300"/>
              </a:spcBef>
              <a:spcAft>
                <a:spcPts val="800"/>
              </a:spcAft>
              <a:defRPr sz="1250" b="1">
                <a:solidFill>
                  <a:srgbClr val="F8FAFC"/>
                </a:solidFill>
              </a:defRPr>
            </a:pPr>
            <a:r>
              <a:t>15–30 Min Extended IP Tentpoles</a:t>
            </a:r>
          </a:p>
          <a:p>
            <a:pPr>
              <a:defRPr sz="850" b="1">
                <a:solidFill>
                  <a:srgbClr val="38BDF8"/>
                </a:solidFill>
              </a:defRPr>
            </a:pPr>
            <a:r>
              <a:t>CORE OPERATIONAL MANDATE:</a:t>
            </a:r>
          </a:p>
          <a:p>
            <a:pPr>
              <a:spcBef>
                <a:spcPts val="200"/>
              </a:spcBef>
              <a:spcAft>
                <a:spcPts val="800"/>
              </a:spcAft>
              <a:defRPr sz="880">
                <a:solidFill>
                  <a:srgbClr val="CBD5E1"/>
                </a:solidFill>
              </a:defRPr>
            </a:pPr>
            <a:r>
              <a:t>Establish recurring branded IP shows ('Behensplaining', 'The Writers' Room', 'Cast Table Reads') around premier releases.</a:t>
            </a:r>
          </a:p>
          <a:p>
            <a:pPr>
              <a:defRPr sz="850" b="1">
                <a:solidFill>
                  <a:srgbClr val="F59E0B"/>
                </a:solidFill>
              </a:defRPr>
            </a:pPr>
            <a:r>
              <a:t>DISTRIBUTION &amp; PUBLISHING:</a:t>
            </a:r>
          </a:p>
          <a:p>
            <a:pPr>
              <a:spcBef>
                <a:spcPts val="200"/>
              </a:spcBef>
              <a:spcAft>
                <a:spcPts val="800"/>
              </a:spcAft>
              <a:defRPr sz="880">
                <a:solidFill>
                  <a:srgbClr val="CBD5E1"/>
                </a:solidFill>
              </a:defRPr>
            </a:pPr>
            <a:r>
              <a:t>Release 1x weekly on Friday at 5:00 PM IST to capture the critical pre-weekend entertainment planning window.</a:t>
            </a:r>
          </a:p>
          <a:p>
            <a:pPr>
              <a:defRPr sz="850" b="1">
                <a:solidFill>
                  <a:srgbClr val="10B981"/>
                </a:solidFill>
              </a:defRPr>
            </a:pPr>
            <a:r>
              <a:t>COMMERCIAL KPIs &amp; CONVERSION:</a:t>
            </a:r>
          </a:p>
          <a:p>
            <a:pPr>
              <a:spcBef>
                <a:spcPts val="200"/>
              </a:spcBef>
              <a:defRPr sz="880">
                <a:solidFill>
                  <a:srgbClr val="F8FAFC"/>
                </a:solidFill>
              </a:defRPr>
            </a:pPr>
            <a:r>
              <a:t>Target: 45%+ Watch Duration, sustained living room viewing, and 32.1% subscription intent among non-subscribers.</a:t>
            </a:r>
          </a:p>
        </p:txBody>
      </p:sp>
      <p:sp>
        <p:nvSpPr>
          <p:cNvPr id="10" name="Rounded Rectangle 9"/>
          <p:cNvSpPr/>
          <p:nvPr/>
        </p:nvSpPr>
        <p:spPr>
          <a:xfrm>
            <a:off x="8046720" y="1600200"/>
            <a:ext cx="3401568" cy="393192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1783080"/>
            <a:ext cx="2999232" cy="3566160"/>
          </a:xfrm>
          <a:prstGeom prst="rect">
            <a:avLst/>
          </a:prstGeom>
          <a:noFill/>
        </p:spPr>
        <p:txBody>
          <a:bodyPr wrap="square" lIns="0" rIns="0" tIns="0" bIns="0">
            <a:spAutoFit/>
          </a:bodyPr>
          <a:lstStyle/>
          <a:p>
            <a:pPr>
              <a:defRPr sz="850" b="1">
                <a:solidFill>
                  <a:srgbClr val="10B981"/>
                </a:solidFill>
              </a:defRPr>
            </a:pPr>
            <a:r>
              <a:t>TIER 03: 'THE BILLBOARD' SYNDICATION</a:t>
            </a:r>
          </a:p>
          <a:p>
            <a:pPr>
              <a:spcBef>
                <a:spcPts val="300"/>
              </a:spcBef>
              <a:spcAft>
                <a:spcPts val="800"/>
              </a:spcAft>
              <a:defRPr sz="1250" b="1">
                <a:solidFill>
                  <a:srgbClr val="F8FAFC"/>
                </a:solidFill>
              </a:defRPr>
            </a:pPr>
            <a:r>
              <a:t>&lt;60 Sec Automated Discovery</a:t>
            </a:r>
          </a:p>
          <a:p>
            <a:pPr>
              <a:defRPr sz="850" b="1">
                <a:solidFill>
                  <a:srgbClr val="38BDF8"/>
                </a:solidFill>
              </a:defRPr>
            </a:pPr>
            <a:r>
              <a:t>CORE OPERATIONAL MANDATE:</a:t>
            </a:r>
          </a:p>
          <a:p>
            <a:pPr>
              <a:spcBef>
                <a:spcPts val="200"/>
              </a:spcBef>
              <a:spcAft>
                <a:spcPts val="800"/>
              </a:spcAft>
              <a:defRPr sz="880">
                <a:solidFill>
                  <a:srgbClr val="CBD5E1"/>
                </a:solidFill>
              </a:defRPr>
            </a:pPr>
            <a:r>
              <a:t>Zero dedicated filming budget. 100% automated vertical extraction from Tier 1 &amp; Tier 2 master footage.</a:t>
            </a:r>
          </a:p>
          <a:p>
            <a:pPr>
              <a:defRPr sz="850" b="1">
                <a:solidFill>
                  <a:srgbClr val="F59E0B"/>
                </a:solidFill>
              </a:defRPr>
            </a:pPr>
            <a:r>
              <a:t>DISTRIBUTION &amp; PUBLISHING:</a:t>
            </a:r>
          </a:p>
          <a:p>
            <a:pPr>
              <a:spcBef>
                <a:spcPts val="200"/>
              </a:spcBef>
              <a:spcAft>
                <a:spcPts val="800"/>
              </a:spcAft>
              <a:defRPr sz="880">
                <a:solidFill>
                  <a:srgbClr val="CBD5E1"/>
                </a:solidFill>
              </a:defRPr>
            </a:pPr>
            <a:r>
              <a:t>Daily automated syndication across YouTube Shorts, Instagram Reels, and WhatsApp status channels.</a:t>
            </a:r>
          </a:p>
          <a:p>
            <a:pPr>
              <a:defRPr sz="850" b="1">
                <a:solidFill>
                  <a:srgbClr val="10B981"/>
                </a:solidFill>
              </a:defRPr>
            </a:pPr>
            <a:r>
              <a:t>COMMERCIAL KPIs &amp; CONVERSION:</a:t>
            </a:r>
          </a:p>
          <a:p>
            <a:pPr>
              <a:spcBef>
                <a:spcPts val="200"/>
              </a:spcBef>
              <a:defRPr sz="880">
                <a:solidFill>
                  <a:srgbClr val="F8FAFC"/>
                </a:solidFill>
              </a:defRPr>
            </a:pPr>
            <a:r>
              <a:t>Target: Top-of-funnel brand recall at ₹0 marginal production expense, acting as billboard discovery for Tier 1 clips.</a:t>
            </a:r>
          </a:p>
        </p:txBody>
      </p:sp>
      <p:sp>
        <p:nvSpPr>
          <p:cNvPr id="12" name="Rounded Rectangle 11"/>
          <p:cNvSpPr/>
          <p:nvPr/>
        </p:nvSpPr>
        <p:spPr>
          <a:xfrm>
            <a:off x="731520" y="5715000"/>
            <a:ext cx="10728655" cy="685800"/>
          </a:xfrm>
          <a:prstGeom prst="roundRect">
            <a:avLst/>
          </a:prstGeom>
          <a:solidFill>
            <a:srgbClr val="131B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779008"/>
            <a:ext cx="10271455" cy="548640"/>
          </a:xfrm>
          <a:prstGeom prst="rect">
            <a:avLst/>
          </a:prstGeom>
          <a:noFill/>
        </p:spPr>
        <p:txBody>
          <a:bodyPr wrap="square" lIns="0" rIns="0" tIns="0" bIns="0">
            <a:spAutoFit/>
          </a:bodyPr>
          <a:lstStyle/>
          <a:p>
            <a:pPr>
              <a:defRPr sz="850" b="1">
                <a:solidFill>
                  <a:srgbClr val="F59E0B"/>
                </a:solidFill>
              </a:defRPr>
            </a:pPr>
            <a:r>
              <a:t>THE PRODUCTIZATION LAW</a:t>
            </a:r>
          </a:p>
          <a:p>
            <a:pPr>
              <a:spcBef>
                <a:spcPts val="200"/>
              </a:spcBef>
              <a:defRPr sz="1100" b="1">
                <a:solidFill>
                  <a:srgbClr val="F8FAFC"/>
                </a:solidFill>
              </a:defRPr>
            </a:pPr>
            <a:r>
              <a:t>“Every single asset we publish must either hook a subscriber in 180 seconds or immerse a superfan for 20 minutes. Anything in between is pure waste.”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FINANCIAL SENSITIVITY MODEL &amp; YEAR-1 P&amp;L IMPACT</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Commercial Monetization Model: Unlocking ₹22.4M in Media Value &amp; 142K Paid Signups</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UNIT ECONOMICS, ORGANIC CAC ARBITRAGE &amp; SENSITIVITY PROJECTIONS (CONSERVATIVE / BASE / UPSIDE)</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10728655" cy="868680"/>
          </a:xfrm>
          <a:prstGeom prst="roundRect">
            <a:avLst/>
          </a:prstGeom>
          <a:solidFill>
            <a:srgbClr val="131B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64208"/>
            <a:ext cx="10271455" cy="731520"/>
          </a:xfrm>
          <a:prstGeom prst="rect">
            <a:avLst/>
          </a:prstGeom>
          <a:noFill/>
        </p:spPr>
        <p:txBody>
          <a:bodyPr wrap="square" lIns="0" rIns="0" tIns="0" bIns="0">
            <a:spAutoFit/>
          </a:bodyPr>
          <a:lstStyle/>
          <a:p>
            <a:pPr>
              <a:defRPr sz="850" b="1">
                <a:solidFill>
                  <a:srgbClr val="38BDF8"/>
                </a:solidFill>
              </a:defRPr>
            </a:pPr>
            <a:r>
              <a:t>EXPLICIT COMMERCIAL VALUATION &amp; ATTRIBUTION FORMULA</a:t>
            </a:r>
          </a:p>
          <a:p>
            <a:pPr>
              <a:spcBef>
                <a:spcPts val="200"/>
              </a:spcBef>
              <a:defRPr sz="1100" b="1">
                <a:solidFill>
                  <a:srgbClr val="F59E0B"/>
                </a:solidFill>
              </a:defRPr>
            </a:pPr>
            <a:r>
              <a:t>Commercial Enterprise Value = (Annual Channel Views × Organic CPM Equiv) + (Attributed Signups × Annual Net Margin)</a:t>
            </a:r>
          </a:p>
          <a:p>
            <a:pPr>
              <a:spcBef>
                <a:spcPts val="200"/>
              </a:spcBef>
              <a:defRPr sz="919">
                <a:solidFill>
                  <a:srgbClr val="CBD5E1"/>
                </a:solidFill>
              </a:defRPr>
            </a:pPr>
            <a:r>
              <a:t>Where: Attributed Signups = Channel Views × Link CTR (1.8%) × Landing Conversion (4.5%) × Paid Activation (32%)</a:t>
            </a:r>
          </a:p>
        </p:txBody>
      </p:sp>
      <p:sp>
        <p:nvSpPr>
          <p:cNvPr id="8" name="Rounded Rectangle 7"/>
          <p:cNvSpPr/>
          <p:nvPr/>
        </p:nvSpPr>
        <p:spPr>
          <a:xfrm>
            <a:off x="731520" y="2606040"/>
            <a:ext cx="10728655" cy="301752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715768"/>
            <a:ext cx="10271455" cy="228600"/>
          </a:xfrm>
          <a:prstGeom prst="rect">
            <a:avLst/>
          </a:prstGeom>
          <a:noFill/>
        </p:spPr>
        <p:txBody>
          <a:bodyPr wrap="square" lIns="0" rIns="0" tIns="0" bIns="0">
            <a:spAutoFit/>
          </a:bodyPr>
          <a:lstStyle/>
          <a:p>
            <a:pPr>
              <a:defRPr sz="950" b="1">
                <a:solidFill>
                  <a:srgbClr val="38BDF8"/>
                </a:solidFill>
              </a:defRPr>
            </a:pPr>
            <a:r>
              <a:t>YEAR-1 COMMERCIAL SENSITIVITY MATRIX ACROSS 3 OPERATIONAL SCENARIOS</a:t>
            </a:r>
          </a:p>
        </p:txBody>
      </p:sp>
      <p:graphicFrame>
        <p:nvGraphicFramePr>
          <p:cNvPr id="10" name="Table 9"/>
          <p:cNvGraphicFramePr>
            <a:graphicFrameLocks noGrp="1"/>
          </p:cNvGraphicFramePr>
          <p:nvPr/>
        </p:nvGraphicFramePr>
        <p:xfrm>
          <a:off x="960120" y="2990088"/>
          <a:ext cx="10728655" cy="2468880"/>
        </p:xfrm>
        <a:graphic>
          <a:graphicData uri="http://schemas.openxmlformats.org/drawingml/2006/table">
            <a:tbl>
              <a:tblPr firstRow="1" bandRow="1">
                <a:tableStyleId>{5C22544A-7EE6-4342-B048-85BDC9FD1C3A}</a:tableStyleId>
              </a:tblPr>
              <a:tblGrid>
                <a:gridCol w="2926080"/>
                <a:gridCol w="1920240"/>
                <a:gridCol w="1920240"/>
                <a:gridCol w="1920240"/>
                <a:gridCol w="2041855"/>
              </a:tblGrid>
              <a:tr h="308610">
                <a:tc>
                  <a:txBody>
                    <a:bodyPr wrap="square" anchor="ctr" lIns="109728" rIns="109728" tIns="54864" bIns="54864"/>
                    <a:lstStyle/>
                    <a:p>
                      <a:pPr algn="l">
                        <a:defRPr sz="900" b="1">
                          <a:solidFill>
                            <a:srgbClr val="F8FAFC"/>
                          </a:solidFill>
                          <a:latin typeface="Arial"/>
                        </a:defRPr>
                      </a:pPr>
                      <a:r>
                        <a:t>Financial &amp; Operating Metric</a:t>
                      </a:r>
                    </a:p>
                  </a:txBody>
                  <a:tcPr>
                    <a:solidFill>
                      <a:srgbClr val="1A243D"/>
                    </a:solidFill>
                  </a:tcPr>
                </a:tc>
                <a:tc>
                  <a:txBody>
                    <a:bodyPr wrap="square" anchor="ctr" lIns="109728" rIns="109728" tIns="54864" bIns="54864"/>
                    <a:lstStyle/>
                    <a:p>
                      <a:pPr algn="l">
                        <a:defRPr sz="900" b="1">
                          <a:solidFill>
                            <a:srgbClr val="F8FAFC"/>
                          </a:solidFill>
                          <a:latin typeface="Arial"/>
                        </a:defRPr>
                      </a:pPr>
                      <a:r>
                        <a:t>Conservative (-20%)</a:t>
                      </a:r>
                    </a:p>
                  </a:txBody>
                  <a:tcPr>
                    <a:solidFill>
                      <a:srgbClr val="1A243D"/>
                    </a:solidFill>
                  </a:tcPr>
                </a:tc>
                <a:tc>
                  <a:txBody>
                    <a:bodyPr wrap="square" anchor="ctr" lIns="109728" rIns="109728" tIns="54864" bIns="54864"/>
                    <a:lstStyle/>
                    <a:p>
                      <a:pPr algn="l">
                        <a:defRPr sz="900" b="1">
                          <a:solidFill>
                            <a:srgbClr val="F8FAFC"/>
                          </a:solidFill>
                          <a:latin typeface="Arial"/>
                        </a:defRPr>
                      </a:pPr>
                      <a:r>
                        <a:t>Base Case (Target)</a:t>
                      </a:r>
                    </a:p>
                  </a:txBody>
                  <a:tcPr>
                    <a:solidFill>
                      <a:srgbClr val="1A243D"/>
                    </a:solidFill>
                  </a:tcPr>
                </a:tc>
                <a:tc>
                  <a:txBody>
                    <a:bodyPr wrap="square" anchor="ctr" lIns="109728" rIns="109728" tIns="54864" bIns="54864"/>
                    <a:lstStyle/>
                    <a:p>
                      <a:pPr algn="l">
                        <a:defRPr sz="900" b="1">
                          <a:solidFill>
                            <a:srgbClr val="F8FAFC"/>
                          </a:solidFill>
                          <a:latin typeface="Arial"/>
                        </a:defRPr>
                      </a:pPr>
                      <a:r>
                        <a:t>Upside (+25%)</a:t>
                      </a:r>
                    </a:p>
                  </a:txBody>
                  <a:tcPr>
                    <a:solidFill>
                      <a:srgbClr val="1A243D"/>
                    </a:solidFill>
                  </a:tcPr>
                </a:tc>
                <a:tc>
                  <a:txBody>
                    <a:bodyPr wrap="square" anchor="ctr" lIns="109728" rIns="109728" tIns="54864" bIns="54864"/>
                    <a:lstStyle/>
                    <a:p>
                      <a:pPr algn="l">
                        <a:defRPr sz="900" b="1">
                          <a:solidFill>
                            <a:srgbClr val="F8FAFC"/>
                          </a:solidFill>
                          <a:latin typeface="Arial"/>
                        </a:defRPr>
                      </a:pPr>
                      <a:r>
                        <a:t>Unit Economic Benchmark</a:t>
                      </a:r>
                    </a:p>
                  </a:txBody>
                  <a:tcPr>
                    <a:solidFill>
                      <a:srgbClr val="1A243D"/>
                    </a:solidFill>
                  </a:tcPr>
                </a:tc>
              </a:tr>
              <a:tr h="308610">
                <a:tc>
                  <a:txBody>
                    <a:bodyPr wrap="square" anchor="ctr" lIns="109728" rIns="109728" tIns="54864" bIns="54864"/>
                    <a:lstStyle/>
                    <a:p>
                      <a:pPr algn="l">
                        <a:defRPr sz="850" b="1">
                          <a:solidFill>
                            <a:srgbClr val="CBD5E1"/>
                          </a:solidFill>
                          <a:latin typeface="Arial"/>
                        </a:defRPr>
                      </a:pPr>
                      <a:r>
                        <a:t>Total Annual Channel Views</a:t>
                      </a:r>
                    </a:p>
                  </a:txBody>
                  <a:tcPr>
                    <a:solidFill>
                      <a:srgbClr val="0E1424"/>
                    </a:solidFill>
                  </a:tcPr>
                </a:tc>
                <a:tc>
                  <a:txBody>
                    <a:bodyPr wrap="square" anchor="ctr" lIns="109728" rIns="109728" tIns="54864" bIns="54864"/>
                    <a:lstStyle/>
                    <a:p>
                      <a:pPr algn="l">
                        <a:defRPr sz="850" b="0">
                          <a:solidFill>
                            <a:srgbClr val="CBD5E1"/>
                          </a:solidFill>
                          <a:latin typeface="Arial"/>
                        </a:defRPr>
                      </a:pPr>
                      <a:r>
                        <a:t>420.0 Million</a:t>
                      </a:r>
                    </a:p>
                  </a:txBody>
                  <a:tcPr>
                    <a:solidFill>
                      <a:srgbClr val="0E1424"/>
                    </a:solidFill>
                  </a:tcPr>
                </a:tc>
                <a:tc>
                  <a:txBody>
                    <a:bodyPr wrap="square" anchor="ctr" lIns="109728" rIns="109728" tIns="54864" bIns="54864"/>
                    <a:lstStyle/>
                    <a:p>
                      <a:pPr algn="l">
                        <a:defRPr sz="850" b="0">
                          <a:solidFill>
                            <a:srgbClr val="38BDF8"/>
                          </a:solidFill>
                          <a:latin typeface="Arial"/>
                        </a:defRPr>
                      </a:pPr>
                      <a:r>
                        <a:t>550.0 Million</a:t>
                      </a:r>
                    </a:p>
                  </a:txBody>
                  <a:tcPr>
                    <a:solidFill>
                      <a:srgbClr val="0E1424"/>
                    </a:solidFill>
                  </a:tcPr>
                </a:tc>
                <a:tc>
                  <a:txBody>
                    <a:bodyPr wrap="square" anchor="ctr" lIns="109728" rIns="109728" tIns="54864" bIns="54864"/>
                    <a:lstStyle/>
                    <a:p>
                      <a:pPr algn="l">
                        <a:defRPr sz="850" b="0">
                          <a:solidFill>
                            <a:srgbClr val="CBD5E1"/>
                          </a:solidFill>
                          <a:latin typeface="Arial"/>
                        </a:defRPr>
                      </a:pPr>
                      <a:r>
                        <a:t>690.0 Million</a:t>
                      </a:r>
                    </a:p>
                  </a:txBody>
                  <a:tcPr>
                    <a:solidFill>
                      <a:srgbClr val="0E1424"/>
                    </a:solidFill>
                  </a:tcPr>
                </a:tc>
                <a:tc>
                  <a:txBody>
                    <a:bodyPr wrap="square" anchor="ctr" lIns="109728" rIns="109728" tIns="54864" bIns="54864"/>
                    <a:lstStyle/>
                    <a:p>
                      <a:pPr algn="l">
                        <a:defRPr sz="850" b="0">
                          <a:solidFill>
                            <a:srgbClr val="CBD5E1"/>
                          </a:solidFill>
                          <a:latin typeface="Arial"/>
                        </a:defRPr>
                      </a:pPr>
                      <a:r>
                        <a:t>Driven by 1-5m format reach</a:t>
                      </a:r>
                    </a:p>
                  </a:txBody>
                  <a:tcPr>
                    <a:solidFill>
                      <a:srgbClr val="0E1424"/>
                    </a:solidFill>
                  </a:tcPr>
                </a:tc>
              </a:tr>
              <a:tr h="308610">
                <a:tc>
                  <a:txBody>
                    <a:bodyPr wrap="square" anchor="ctr" lIns="109728" rIns="109728" tIns="54864" bIns="54864"/>
                    <a:lstStyle/>
                    <a:p>
                      <a:pPr algn="l">
                        <a:defRPr sz="850" b="1">
                          <a:solidFill>
                            <a:srgbClr val="CBD5E1"/>
                          </a:solidFill>
                          <a:latin typeface="Arial"/>
                        </a:defRPr>
                      </a:pPr>
                      <a:r>
                        <a:t>High-Yield Format Concentration</a:t>
                      </a:r>
                    </a:p>
                  </a:txBody>
                  <a:tcPr>
                    <a:solidFill>
                      <a:srgbClr val="0A0F1C"/>
                    </a:solidFill>
                  </a:tcPr>
                </a:tc>
                <a:tc>
                  <a:txBody>
                    <a:bodyPr wrap="square" anchor="ctr" lIns="109728" rIns="109728" tIns="54864" bIns="54864"/>
                    <a:lstStyle/>
                    <a:p>
                      <a:pPr algn="l">
                        <a:defRPr sz="850" b="0">
                          <a:solidFill>
                            <a:srgbClr val="CBD5E1"/>
                          </a:solidFill>
                          <a:latin typeface="Arial"/>
                        </a:defRPr>
                      </a:pPr>
                      <a:r>
                        <a:t>75.0% of Catalog</a:t>
                      </a:r>
                    </a:p>
                  </a:txBody>
                  <a:tcPr>
                    <a:solidFill>
                      <a:srgbClr val="0A0F1C"/>
                    </a:solidFill>
                  </a:tcPr>
                </a:tc>
                <a:tc>
                  <a:txBody>
                    <a:bodyPr wrap="square" anchor="ctr" lIns="109728" rIns="109728" tIns="54864" bIns="54864"/>
                    <a:lstStyle/>
                    <a:p>
                      <a:pPr algn="l">
                        <a:defRPr sz="850" b="0">
                          <a:solidFill>
                            <a:srgbClr val="38BDF8"/>
                          </a:solidFill>
                          <a:latin typeface="Arial"/>
                        </a:defRPr>
                      </a:pPr>
                      <a:r>
                        <a:t>85.0% of Catalog</a:t>
                      </a:r>
                    </a:p>
                  </a:txBody>
                  <a:tcPr>
                    <a:solidFill>
                      <a:srgbClr val="0A0F1C"/>
                    </a:solidFill>
                  </a:tcPr>
                </a:tc>
                <a:tc>
                  <a:txBody>
                    <a:bodyPr wrap="square" anchor="ctr" lIns="109728" rIns="109728" tIns="54864" bIns="54864"/>
                    <a:lstStyle/>
                    <a:p>
                      <a:pPr algn="l">
                        <a:defRPr sz="850" b="0">
                          <a:solidFill>
                            <a:srgbClr val="CBD5E1"/>
                          </a:solidFill>
                          <a:latin typeface="Arial"/>
                        </a:defRPr>
                      </a:pPr>
                      <a:r>
                        <a:t>92.0% of Catalog</a:t>
                      </a:r>
                    </a:p>
                  </a:txBody>
                  <a:tcPr>
                    <a:solidFill>
                      <a:srgbClr val="0A0F1C"/>
                    </a:solidFill>
                  </a:tcPr>
                </a:tc>
                <a:tc>
                  <a:txBody>
                    <a:bodyPr wrap="square" anchor="ctr" lIns="109728" rIns="109728" tIns="54864" bIns="54864"/>
                    <a:lstStyle/>
                    <a:p>
                      <a:pPr algn="l">
                        <a:defRPr sz="850" b="0">
                          <a:solidFill>
                            <a:srgbClr val="CBD5E1"/>
                          </a:solidFill>
                          <a:latin typeface="Arial"/>
                        </a:defRPr>
                      </a:pPr>
                      <a:r>
                        <a:t>Shifted away from low-yield bloat</a:t>
                      </a:r>
                    </a:p>
                  </a:txBody>
                  <a:tcPr>
                    <a:solidFill>
                      <a:srgbClr val="0A0F1C"/>
                    </a:solidFill>
                  </a:tcPr>
                </a:tc>
              </a:tr>
              <a:tr h="308610">
                <a:tc>
                  <a:txBody>
                    <a:bodyPr wrap="square" anchor="ctr" lIns="109728" rIns="109728" tIns="54864" bIns="54864"/>
                    <a:lstStyle/>
                    <a:p>
                      <a:pPr algn="l">
                        <a:defRPr sz="850" b="1">
                          <a:solidFill>
                            <a:srgbClr val="CBD5E1"/>
                          </a:solidFill>
                          <a:latin typeface="Arial"/>
                        </a:defRPr>
                      </a:pPr>
                      <a:r>
                        <a:t>Attributed OTT Store / App Visitors</a:t>
                      </a:r>
                    </a:p>
                  </a:txBody>
                  <a:tcPr>
                    <a:solidFill>
                      <a:srgbClr val="0E1424"/>
                    </a:solidFill>
                  </a:tcPr>
                </a:tc>
                <a:tc>
                  <a:txBody>
                    <a:bodyPr wrap="square" anchor="ctr" lIns="109728" rIns="109728" tIns="54864" bIns="54864"/>
                    <a:lstStyle/>
                    <a:p>
                      <a:pPr algn="l">
                        <a:defRPr sz="850" b="0">
                          <a:solidFill>
                            <a:srgbClr val="CBD5E1"/>
                          </a:solidFill>
                          <a:latin typeface="Arial"/>
                        </a:defRPr>
                      </a:pPr>
                      <a:r>
                        <a:t>7.56 Million</a:t>
                      </a:r>
                    </a:p>
                  </a:txBody>
                  <a:tcPr>
                    <a:solidFill>
                      <a:srgbClr val="0E1424"/>
                    </a:solidFill>
                  </a:tcPr>
                </a:tc>
                <a:tc>
                  <a:txBody>
                    <a:bodyPr wrap="square" anchor="ctr" lIns="109728" rIns="109728" tIns="54864" bIns="54864"/>
                    <a:lstStyle/>
                    <a:p>
                      <a:pPr algn="l">
                        <a:defRPr sz="850" b="0">
                          <a:solidFill>
                            <a:srgbClr val="38BDF8"/>
                          </a:solidFill>
                          <a:latin typeface="Arial"/>
                        </a:defRPr>
                      </a:pPr>
                      <a:r>
                        <a:t>9.90 Million</a:t>
                      </a:r>
                    </a:p>
                  </a:txBody>
                  <a:tcPr>
                    <a:solidFill>
                      <a:srgbClr val="0E1424"/>
                    </a:solidFill>
                  </a:tcPr>
                </a:tc>
                <a:tc>
                  <a:txBody>
                    <a:bodyPr wrap="square" anchor="ctr" lIns="109728" rIns="109728" tIns="54864" bIns="54864"/>
                    <a:lstStyle/>
                    <a:p>
                      <a:pPr algn="l">
                        <a:defRPr sz="850" b="0">
                          <a:solidFill>
                            <a:srgbClr val="CBD5E1"/>
                          </a:solidFill>
                          <a:latin typeface="Arial"/>
                        </a:defRPr>
                      </a:pPr>
                      <a:r>
                        <a:t>12.42 Million</a:t>
                      </a:r>
                    </a:p>
                  </a:txBody>
                  <a:tcPr>
                    <a:solidFill>
                      <a:srgbClr val="0E1424"/>
                    </a:solidFill>
                  </a:tcPr>
                </a:tc>
                <a:tc>
                  <a:txBody>
                    <a:bodyPr wrap="square" anchor="ctr" lIns="109728" rIns="109728" tIns="54864" bIns="54864"/>
                    <a:lstStyle/>
                    <a:p>
                      <a:pPr algn="l">
                        <a:defRPr sz="850" b="0">
                          <a:solidFill>
                            <a:srgbClr val="CBD5E1"/>
                          </a:solidFill>
                          <a:latin typeface="Arial"/>
                        </a:defRPr>
                      </a:pPr>
                      <a:r>
                        <a:t>1.8% Click-Through Rate assumption</a:t>
                      </a:r>
                    </a:p>
                  </a:txBody>
                  <a:tcPr>
                    <a:solidFill>
                      <a:srgbClr val="0E1424"/>
                    </a:solidFill>
                  </a:tcPr>
                </a:tc>
              </a:tr>
              <a:tr h="308610">
                <a:tc>
                  <a:txBody>
                    <a:bodyPr wrap="square" anchor="ctr" lIns="109728" rIns="109728" tIns="54864" bIns="54864"/>
                    <a:lstStyle/>
                    <a:p>
                      <a:pPr algn="l">
                        <a:defRPr sz="850" b="1">
                          <a:solidFill>
                            <a:srgbClr val="CBD5E1"/>
                          </a:solidFill>
                          <a:latin typeface="Arial"/>
                        </a:defRPr>
                      </a:pPr>
                      <a:r>
                        <a:t>Incremental Paid Subscriber Adds</a:t>
                      </a:r>
                    </a:p>
                  </a:txBody>
                  <a:tcPr>
                    <a:solidFill>
                      <a:srgbClr val="0A0F1C"/>
                    </a:solidFill>
                  </a:tcPr>
                </a:tc>
                <a:tc>
                  <a:txBody>
                    <a:bodyPr wrap="square" anchor="ctr" lIns="109728" rIns="109728" tIns="54864" bIns="54864"/>
                    <a:lstStyle/>
                    <a:p>
                      <a:pPr algn="l">
                        <a:defRPr sz="850" b="0">
                          <a:solidFill>
                            <a:srgbClr val="CBD5E1"/>
                          </a:solidFill>
                          <a:latin typeface="Arial"/>
                        </a:defRPr>
                      </a:pPr>
                      <a:r>
                        <a:t>108,800 Signups</a:t>
                      </a:r>
                    </a:p>
                  </a:txBody>
                  <a:tcPr>
                    <a:solidFill>
                      <a:srgbClr val="0A0F1C"/>
                    </a:solidFill>
                  </a:tcPr>
                </a:tc>
                <a:tc>
                  <a:txBody>
                    <a:bodyPr wrap="square" anchor="ctr" lIns="109728" rIns="109728" tIns="54864" bIns="54864"/>
                    <a:lstStyle/>
                    <a:p>
                      <a:pPr algn="l">
                        <a:defRPr sz="850" b="0">
                          <a:solidFill>
                            <a:srgbClr val="38BDF8"/>
                          </a:solidFill>
                          <a:latin typeface="Arial"/>
                        </a:defRPr>
                      </a:pPr>
                      <a:r>
                        <a:t>142,500 Signups</a:t>
                      </a:r>
                    </a:p>
                  </a:txBody>
                  <a:tcPr>
                    <a:solidFill>
                      <a:srgbClr val="0A0F1C"/>
                    </a:solidFill>
                  </a:tcPr>
                </a:tc>
                <a:tc>
                  <a:txBody>
                    <a:bodyPr wrap="square" anchor="ctr" lIns="109728" rIns="109728" tIns="54864" bIns="54864"/>
                    <a:lstStyle/>
                    <a:p>
                      <a:pPr algn="l">
                        <a:defRPr sz="850" b="0">
                          <a:solidFill>
                            <a:srgbClr val="CBD5E1"/>
                          </a:solidFill>
                          <a:latin typeface="Arial"/>
                        </a:defRPr>
                      </a:pPr>
                      <a:r>
                        <a:t>185,200 Signups</a:t>
                      </a:r>
                    </a:p>
                  </a:txBody>
                  <a:tcPr>
                    <a:solidFill>
                      <a:srgbClr val="0A0F1C"/>
                    </a:solidFill>
                  </a:tcPr>
                </a:tc>
                <a:tc>
                  <a:txBody>
                    <a:bodyPr wrap="square" anchor="ctr" lIns="109728" rIns="109728" tIns="54864" bIns="54864"/>
                    <a:lstStyle/>
                    <a:p>
                      <a:pPr algn="l">
                        <a:defRPr sz="850" b="0">
                          <a:solidFill>
                            <a:srgbClr val="CBD5E1"/>
                          </a:solidFill>
                          <a:latin typeface="Arial"/>
                        </a:defRPr>
                      </a:pPr>
                      <a:r>
                        <a:t>Directly attributed paid conversions</a:t>
                      </a:r>
                    </a:p>
                  </a:txBody>
                  <a:tcPr>
                    <a:solidFill>
                      <a:srgbClr val="0A0F1C"/>
                    </a:solidFill>
                  </a:tcPr>
                </a:tc>
              </a:tr>
              <a:tr h="308610">
                <a:tc>
                  <a:txBody>
                    <a:bodyPr wrap="square" anchor="ctr" lIns="109728" rIns="109728" tIns="54864" bIns="54864"/>
                    <a:lstStyle/>
                    <a:p>
                      <a:pPr algn="l">
                        <a:defRPr sz="850" b="1">
                          <a:solidFill>
                            <a:srgbClr val="CBD5E1"/>
                          </a:solidFill>
                          <a:latin typeface="Arial"/>
                        </a:defRPr>
                      </a:pPr>
                      <a:r>
                        <a:t>Equivalent Organic Media Value (CPM)</a:t>
                      </a:r>
                    </a:p>
                  </a:txBody>
                  <a:tcPr>
                    <a:solidFill>
                      <a:srgbClr val="0E1424"/>
                    </a:solidFill>
                  </a:tcPr>
                </a:tc>
                <a:tc>
                  <a:txBody>
                    <a:bodyPr wrap="square" anchor="ctr" lIns="109728" rIns="109728" tIns="54864" bIns="54864"/>
                    <a:lstStyle/>
                    <a:p>
                      <a:pPr algn="l">
                        <a:defRPr sz="850" b="0">
                          <a:solidFill>
                            <a:srgbClr val="CBD5E1"/>
                          </a:solidFill>
                          <a:latin typeface="Arial"/>
                        </a:defRPr>
                      </a:pPr>
                      <a:r>
                        <a:t>₹12.60M ($152K)</a:t>
                      </a:r>
                    </a:p>
                  </a:txBody>
                  <a:tcPr>
                    <a:solidFill>
                      <a:srgbClr val="0E1424"/>
                    </a:solidFill>
                  </a:tcPr>
                </a:tc>
                <a:tc>
                  <a:txBody>
                    <a:bodyPr wrap="square" anchor="ctr" lIns="109728" rIns="109728" tIns="54864" bIns="54864"/>
                    <a:lstStyle/>
                    <a:p>
                      <a:pPr algn="l">
                        <a:defRPr sz="850" b="0">
                          <a:solidFill>
                            <a:srgbClr val="38BDF8"/>
                          </a:solidFill>
                          <a:latin typeface="Arial"/>
                        </a:defRPr>
                      </a:pPr>
                      <a:r>
                        <a:t>₹16.50M ($199K)</a:t>
                      </a:r>
                    </a:p>
                  </a:txBody>
                  <a:tcPr>
                    <a:solidFill>
                      <a:srgbClr val="0E1424"/>
                    </a:solidFill>
                  </a:tcPr>
                </a:tc>
                <a:tc>
                  <a:txBody>
                    <a:bodyPr wrap="square" anchor="ctr" lIns="109728" rIns="109728" tIns="54864" bIns="54864"/>
                    <a:lstStyle/>
                    <a:p>
                      <a:pPr algn="l">
                        <a:defRPr sz="850" b="0">
                          <a:solidFill>
                            <a:srgbClr val="CBD5E1"/>
                          </a:solidFill>
                          <a:latin typeface="Arial"/>
                        </a:defRPr>
                      </a:pPr>
                      <a:r>
                        <a:t>₹20.70M ($250K)</a:t>
                      </a:r>
                    </a:p>
                  </a:txBody>
                  <a:tcPr>
                    <a:solidFill>
                      <a:srgbClr val="0E1424"/>
                    </a:solidFill>
                  </a:tcPr>
                </a:tc>
                <a:tc>
                  <a:txBody>
                    <a:bodyPr wrap="square" anchor="ctr" lIns="109728" rIns="109728" tIns="54864" bIns="54864"/>
                    <a:lstStyle/>
                    <a:p>
                      <a:pPr algn="l">
                        <a:defRPr sz="850" b="0">
                          <a:solidFill>
                            <a:srgbClr val="CBD5E1"/>
                          </a:solidFill>
                          <a:latin typeface="Arial"/>
                        </a:defRPr>
                      </a:pPr>
                      <a:r>
                        <a:t>Equivalent paid YouTube ad spend</a:t>
                      </a:r>
                    </a:p>
                  </a:txBody>
                  <a:tcPr>
                    <a:solidFill>
                      <a:srgbClr val="0E1424"/>
                    </a:solidFill>
                  </a:tcPr>
                </a:tc>
              </a:tr>
              <a:tr h="308610">
                <a:tc>
                  <a:txBody>
                    <a:bodyPr wrap="square" anchor="ctr" lIns="109728" rIns="109728" tIns="54864" bIns="54864"/>
                    <a:lstStyle/>
                    <a:p>
                      <a:pPr algn="l">
                        <a:defRPr sz="850" b="1">
                          <a:solidFill>
                            <a:srgbClr val="CBD5E1"/>
                          </a:solidFill>
                          <a:latin typeface="Arial"/>
                        </a:defRPr>
                      </a:pPr>
                      <a:r>
                        <a:t>Attributed Subscriber Margin</a:t>
                      </a:r>
                    </a:p>
                  </a:txBody>
                  <a:tcPr>
                    <a:solidFill>
                      <a:srgbClr val="0A0F1C"/>
                    </a:solidFill>
                  </a:tcPr>
                </a:tc>
                <a:tc>
                  <a:txBody>
                    <a:bodyPr wrap="square" anchor="ctr" lIns="109728" rIns="109728" tIns="54864" bIns="54864"/>
                    <a:lstStyle/>
                    <a:p>
                      <a:pPr algn="l">
                        <a:defRPr sz="850" b="0">
                          <a:solidFill>
                            <a:srgbClr val="CBD5E1"/>
                          </a:solidFill>
                          <a:latin typeface="Arial"/>
                        </a:defRPr>
                      </a:pPr>
                      <a:r>
                        <a:t>₹4.20M ($51K)</a:t>
                      </a:r>
                    </a:p>
                  </a:txBody>
                  <a:tcPr>
                    <a:solidFill>
                      <a:srgbClr val="0A0F1C"/>
                    </a:solidFill>
                  </a:tcPr>
                </a:tc>
                <a:tc>
                  <a:txBody>
                    <a:bodyPr wrap="square" anchor="ctr" lIns="109728" rIns="109728" tIns="54864" bIns="54864"/>
                    <a:lstStyle/>
                    <a:p>
                      <a:pPr algn="l">
                        <a:defRPr sz="850" b="0">
                          <a:solidFill>
                            <a:srgbClr val="38BDF8"/>
                          </a:solidFill>
                          <a:latin typeface="Arial"/>
                        </a:defRPr>
                      </a:pPr>
                      <a:r>
                        <a:t>₹5.90M ($71K)</a:t>
                      </a:r>
                    </a:p>
                  </a:txBody>
                  <a:tcPr>
                    <a:solidFill>
                      <a:srgbClr val="0A0F1C"/>
                    </a:solidFill>
                  </a:tcPr>
                </a:tc>
                <a:tc>
                  <a:txBody>
                    <a:bodyPr wrap="square" anchor="ctr" lIns="109728" rIns="109728" tIns="54864" bIns="54864"/>
                    <a:lstStyle/>
                    <a:p>
                      <a:pPr algn="l">
                        <a:defRPr sz="850" b="0">
                          <a:solidFill>
                            <a:srgbClr val="CBD5E1"/>
                          </a:solidFill>
                          <a:latin typeface="Arial"/>
                        </a:defRPr>
                      </a:pPr>
                      <a:r>
                        <a:t>₹8.40M ($101K)</a:t>
                      </a:r>
                    </a:p>
                  </a:txBody>
                  <a:tcPr>
                    <a:solidFill>
                      <a:srgbClr val="0A0F1C"/>
                    </a:solidFill>
                  </a:tcPr>
                </a:tc>
                <a:tc>
                  <a:txBody>
                    <a:bodyPr wrap="square" anchor="ctr" lIns="109728" rIns="109728" tIns="54864" bIns="54864"/>
                    <a:lstStyle/>
                    <a:p>
                      <a:pPr algn="l">
                        <a:defRPr sz="850" b="0">
                          <a:solidFill>
                            <a:srgbClr val="CBD5E1"/>
                          </a:solidFill>
                          <a:latin typeface="Arial"/>
                        </a:defRPr>
                      </a:pPr>
                      <a:r>
                        <a:t>Net contribution after streaming costs</a:t>
                      </a:r>
                    </a:p>
                  </a:txBody>
                  <a:tcPr>
                    <a:solidFill>
                      <a:srgbClr val="0A0F1C"/>
                    </a:solidFill>
                  </a:tcPr>
                </a:tc>
              </a:tr>
              <a:tr h="308610">
                <a:tc>
                  <a:txBody>
                    <a:bodyPr wrap="square" anchor="ctr" lIns="109728" rIns="109728" tIns="54864" bIns="54864"/>
                    <a:lstStyle/>
                    <a:p>
                      <a:pPr algn="l">
                        <a:defRPr sz="950" b="1">
                          <a:solidFill>
                            <a:srgbClr val="10B981"/>
                          </a:solidFill>
                          <a:latin typeface="Arial"/>
                        </a:defRPr>
                      </a:pPr>
                      <a:r>
                        <a:t>Total Enterprise Commercial Value</a:t>
                      </a:r>
                    </a:p>
                  </a:txBody>
                  <a:tcPr>
                    <a:solidFill>
                      <a:srgbClr val="0E1424"/>
                    </a:solidFill>
                  </a:tcPr>
                </a:tc>
                <a:tc>
                  <a:txBody>
                    <a:bodyPr wrap="square" anchor="ctr" lIns="109728" rIns="109728" tIns="54864" bIns="54864"/>
                    <a:lstStyle/>
                    <a:p>
                      <a:pPr algn="l">
                        <a:defRPr sz="950" b="1">
                          <a:solidFill>
                            <a:srgbClr val="10B981"/>
                          </a:solidFill>
                          <a:latin typeface="Arial"/>
                        </a:defRPr>
                      </a:pPr>
                      <a:r>
                        <a:t>₹16.80M ($203K)</a:t>
                      </a:r>
                    </a:p>
                  </a:txBody>
                  <a:tcPr>
                    <a:solidFill>
                      <a:srgbClr val="0E1424"/>
                    </a:solidFill>
                  </a:tcPr>
                </a:tc>
                <a:tc>
                  <a:txBody>
                    <a:bodyPr wrap="square" anchor="ctr" lIns="109728" rIns="109728" tIns="54864" bIns="54864"/>
                    <a:lstStyle/>
                    <a:p>
                      <a:pPr algn="l">
                        <a:defRPr sz="950" b="1">
                          <a:solidFill>
                            <a:srgbClr val="F59E0B"/>
                          </a:solidFill>
                          <a:latin typeface="Arial"/>
                        </a:defRPr>
                      </a:pPr>
                      <a:r>
                        <a:t>₹22.40M ($270K)</a:t>
                      </a:r>
                    </a:p>
                  </a:txBody>
                  <a:tcPr>
                    <a:solidFill>
                      <a:srgbClr val="0E1424"/>
                    </a:solidFill>
                  </a:tcPr>
                </a:tc>
                <a:tc>
                  <a:txBody>
                    <a:bodyPr wrap="square" anchor="ctr" lIns="109728" rIns="109728" tIns="54864" bIns="54864"/>
                    <a:lstStyle/>
                    <a:p>
                      <a:pPr algn="l">
                        <a:defRPr sz="950" b="1">
                          <a:solidFill>
                            <a:srgbClr val="10B981"/>
                          </a:solidFill>
                          <a:latin typeface="Arial"/>
                        </a:defRPr>
                      </a:pPr>
                      <a:r>
                        <a:t>₹29.10M ($351K)</a:t>
                      </a:r>
                    </a:p>
                  </a:txBody>
                  <a:tcPr>
                    <a:solidFill>
                      <a:srgbClr val="0E1424"/>
                    </a:solidFill>
                  </a:tcPr>
                </a:tc>
                <a:tc>
                  <a:txBody>
                    <a:bodyPr wrap="square" anchor="ctr" lIns="109728" rIns="109728" tIns="54864" bIns="54864"/>
                    <a:lstStyle/>
                    <a:p>
                      <a:pPr algn="l">
                        <a:defRPr sz="950" b="1">
                          <a:solidFill>
                            <a:srgbClr val="10B981"/>
                          </a:solidFill>
                          <a:latin typeface="Arial"/>
                        </a:defRPr>
                      </a:pPr>
                      <a:r>
                        <a:t>Combined media &amp; subscription gain</a:t>
                      </a:r>
                    </a:p>
                  </a:txBody>
                  <a:tcPr>
                    <a:solidFill>
                      <a:srgbClr val="0E1424"/>
                    </a:solidFill>
                  </a:tcPr>
                </a:tc>
              </a:tr>
            </a:tbl>
          </a:graphicData>
        </a:graphic>
      </p:graphicFrame>
      <p:sp>
        <p:nvSpPr>
          <p:cNvPr id="11" name="Rounded Rectangle 10"/>
          <p:cNvSpPr/>
          <p:nvPr/>
        </p:nvSpPr>
        <p:spPr>
          <a:xfrm>
            <a:off x="731520" y="5715000"/>
            <a:ext cx="10728655" cy="685800"/>
          </a:xfrm>
          <a:prstGeom prst="roundRect">
            <a:avLst/>
          </a:prstGeom>
          <a:solidFill>
            <a:srgbClr val="131B3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779008"/>
            <a:ext cx="10271455" cy="548640"/>
          </a:xfrm>
          <a:prstGeom prst="rect">
            <a:avLst/>
          </a:prstGeom>
          <a:noFill/>
        </p:spPr>
        <p:txBody>
          <a:bodyPr wrap="square" lIns="0" rIns="0" tIns="0" bIns="0">
            <a:spAutoFit/>
          </a:bodyPr>
          <a:lstStyle/>
          <a:p>
            <a:pPr>
              <a:defRPr sz="850" b="1">
                <a:solidFill>
                  <a:srgbClr val="10B981"/>
                </a:solidFill>
              </a:defRPr>
            </a:pPr>
            <a:r>
              <a:t>CFO CAPITAL IMPACT: BLENDED CAC REDUCTION</a:t>
            </a:r>
          </a:p>
          <a:p>
            <a:pPr>
              <a:spcBef>
                <a:spcPts val="200"/>
              </a:spcBef>
              <a:defRPr sz="1050" b="1">
                <a:solidFill>
                  <a:srgbClr val="F8FAFC"/>
                </a:solidFill>
              </a:defRPr>
            </a:pPr>
            <a:r>
              <a:t>In the Base Case, capturing 142.5K organic subscriber acquisitions directly lowers Netflix India's blended Paid Customer Acquisition Cost (CAC) by -34.2%, delivering an unassailable performance marketing hedge.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384048"/>
            <a:ext cx="10728655" cy="256032"/>
          </a:xfrm>
          <a:prstGeom prst="rect">
            <a:avLst/>
          </a:prstGeom>
          <a:noFill/>
        </p:spPr>
        <p:txBody>
          <a:bodyPr wrap="square" lIns="0" rIns="0" tIns="0" bIns="0">
            <a:spAutoFit/>
          </a:bodyPr>
          <a:lstStyle/>
          <a:p>
            <a:pPr>
              <a:defRPr sz="900" b="1">
                <a:solidFill>
                  <a:srgbClr val="38BDF8"/>
                </a:solidFill>
                <a:latin typeface="Arial"/>
              </a:defRPr>
            </a:pPr>
            <a:r>
              <a:t>EXECUTION ROADMAP &amp; BOARD DECISION MANDATE</a:t>
            </a:r>
          </a:p>
        </p:txBody>
      </p:sp>
      <p:sp>
        <p:nvSpPr>
          <p:cNvPr id="3" name="TextBox 2"/>
          <p:cNvSpPr txBox="1"/>
          <p:nvPr/>
        </p:nvSpPr>
        <p:spPr>
          <a:xfrm>
            <a:off x="731520" y="640080"/>
            <a:ext cx="10728655" cy="475488"/>
          </a:xfrm>
          <a:prstGeom prst="rect">
            <a:avLst/>
          </a:prstGeom>
          <a:noFill/>
        </p:spPr>
        <p:txBody>
          <a:bodyPr wrap="square" lIns="0" rIns="0" tIns="0" bIns="0">
            <a:spAutoFit/>
          </a:bodyPr>
          <a:lstStyle/>
          <a:p>
            <a:pPr>
              <a:defRPr sz="1750" b="1">
                <a:solidFill>
                  <a:srgbClr val="F8FAFC"/>
                </a:solidFill>
                <a:latin typeface="Arial"/>
              </a:defRPr>
            </a:pPr>
            <a:r>
              <a:t>Execution Roadmap: 90-Day Transition to Agile Content Franchises &amp; Programmatic Governance</a:t>
            </a:r>
          </a:p>
        </p:txBody>
      </p:sp>
      <p:sp>
        <p:nvSpPr>
          <p:cNvPr id="4" name="TextBox 3"/>
          <p:cNvSpPr txBox="1"/>
          <p:nvPr/>
        </p:nvSpPr>
        <p:spPr>
          <a:xfrm>
            <a:off x="731520" y="1143000"/>
            <a:ext cx="10728655" cy="228600"/>
          </a:xfrm>
          <a:prstGeom prst="rect">
            <a:avLst/>
          </a:prstGeom>
          <a:noFill/>
        </p:spPr>
        <p:txBody>
          <a:bodyPr wrap="square" lIns="0" rIns="0" tIns="0" bIns="0">
            <a:spAutoFit/>
          </a:bodyPr>
          <a:lstStyle/>
          <a:p>
            <a:pPr>
              <a:defRPr sz="950">
                <a:solidFill>
                  <a:srgbClr val="94A3B8"/>
                </a:solidFill>
                <a:latin typeface="Arial"/>
              </a:defRPr>
            </a:pPr>
            <a:r>
              <a:t>MONTH-BY-MONTH OPERATIONAL MILESTONES, GOVERNANCE GATES &amp; IMMEDIATE BOARD DECISION ITEMS</a:t>
            </a:r>
          </a:p>
        </p:txBody>
      </p:sp>
      <p:sp>
        <p:nvSpPr>
          <p:cNvPr id="5" name="Rectangle 4"/>
          <p:cNvSpPr/>
          <p:nvPr/>
        </p:nvSpPr>
        <p:spPr>
          <a:xfrm>
            <a:off x="731520" y="1417320"/>
            <a:ext cx="10728655" cy="13716"/>
          </a:xfrm>
          <a:prstGeom prst="rect">
            <a:avLst/>
          </a:prstGeom>
          <a:solidFill>
            <a:srgbClr val="28324B"/>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401568" cy="27432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783080"/>
            <a:ext cx="2999232" cy="2377440"/>
          </a:xfrm>
          <a:prstGeom prst="rect">
            <a:avLst/>
          </a:prstGeom>
          <a:noFill/>
        </p:spPr>
        <p:txBody>
          <a:bodyPr wrap="square" lIns="0" rIns="0" tIns="0" bIns="0">
            <a:spAutoFit/>
          </a:bodyPr>
          <a:lstStyle/>
          <a:p>
            <a:pPr>
              <a:defRPr sz="850" b="1">
                <a:solidFill>
                  <a:srgbClr val="F43F5E"/>
                </a:solidFill>
              </a:defRPr>
            </a:pPr>
            <a:r>
              <a:t>PHASE 01: MONTH 1</a:t>
            </a:r>
          </a:p>
          <a:p>
            <a:pPr>
              <a:spcBef>
                <a:spcPts val="300"/>
              </a:spcBef>
              <a:spcAft>
                <a:spcPts val="800"/>
              </a:spcAft>
              <a:defRPr sz="1250" b="1">
                <a:solidFill>
                  <a:srgbClr val="F8FAFC"/>
                </a:solidFill>
              </a:defRPr>
            </a:pPr>
            <a:r>
              <a:t>Sanitation &amp; Calibration</a:t>
            </a:r>
          </a:p>
          <a:p>
            <a:pPr>
              <a:defRPr sz="850" b="1">
                <a:solidFill>
                  <a:srgbClr val="38BDF8"/>
                </a:solidFill>
              </a:defRPr>
            </a:pPr>
            <a:r>
              <a:t>OPERATIONAL ACTIONS:</a:t>
            </a:r>
          </a:p>
          <a:p>
            <a:pPr>
              <a:spcBef>
                <a:spcPts val="200"/>
              </a:spcBef>
              <a:spcAft>
                <a:spcPts val="800"/>
              </a:spcAft>
              <a:defRPr sz="850">
                <a:solidFill>
                  <a:srgbClr val="CBD5E1"/>
                </a:solidFill>
              </a:defRPr>
            </a:pPr>
            <a:r>
              <a:t>• Deprecate bottom 40% standalone short-form production immediately.</a:t>
            </a:r>
            <a:br/>
            <a:r>
              <a:t>• Enforce strict 3–5 semantic tag threshold across publishing tools.</a:t>
            </a:r>
            <a:br/>
            <a:r>
              <a:t>• Standardize narrative &gt;50 char title guidelines for all uploads.</a:t>
            </a:r>
            <a:br/>
            <a:r>
              <a:t>• Shift release cadence strictly to 11 AM – 2 PM IST daytime window.</a:t>
            </a:r>
          </a:p>
          <a:p>
            <a:pPr>
              <a:defRPr sz="850" b="1">
                <a:solidFill>
                  <a:srgbClr val="F59E0B"/>
                </a:solidFill>
              </a:defRPr>
            </a:pPr>
            <a:r>
              <a:t>OWNERSHIP &amp; GOVERNANCE:</a:t>
            </a:r>
          </a:p>
          <a:p>
            <a:pPr>
              <a:spcBef>
                <a:spcPts val="200"/>
              </a:spcBef>
              <a:spcAft>
                <a:spcPts val="800"/>
              </a:spcAft>
              <a:defRPr sz="850">
                <a:solidFill>
                  <a:srgbClr val="CBD5E1"/>
                </a:solidFill>
              </a:defRPr>
            </a:pPr>
            <a:r>
              <a:t>• Primary Owner: Head of Content Ops &amp; YouTube Channel Lead</a:t>
            </a:r>
            <a:br/>
            <a:r>
              <a:t>• Decision Gate 1: CCO sign-off on new publishing standard operating procedures (SOP).</a:t>
            </a:r>
          </a:p>
          <a:p>
            <a:pPr>
              <a:defRPr sz="850" b="1">
                <a:solidFill>
                  <a:srgbClr val="10B981"/>
                </a:solidFill>
              </a:defRPr>
            </a:pPr>
            <a:r>
              <a:t>EXIT MILESTONE:</a:t>
            </a:r>
          </a:p>
          <a:p>
            <a:pPr>
              <a:spcBef>
                <a:spcPts val="200"/>
              </a:spcBef>
              <a:defRPr sz="880" b="1">
                <a:solidFill>
                  <a:srgbClr val="F8FAFC"/>
                </a:solidFill>
              </a:defRPr>
            </a:pPr>
            <a:r>
              <a:t>✓ 100% of new uploads meet algorithmic publishing guidelines.</a:t>
            </a:r>
          </a:p>
        </p:txBody>
      </p:sp>
      <p:sp>
        <p:nvSpPr>
          <p:cNvPr id="8" name="Rounded Rectangle 7"/>
          <p:cNvSpPr/>
          <p:nvPr/>
        </p:nvSpPr>
        <p:spPr>
          <a:xfrm>
            <a:off x="4389120" y="1600200"/>
            <a:ext cx="3401568" cy="27432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783080"/>
            <a:ext cx="2999232" cy="2377440"/>
          </a:xfrm>
          <a:prstGeom prst="rect">
            <a:avLst/>
          </a:prstGeom>
          <a:noFill/>
        </p:spPr>
        <p:txBody>
          <a:bodyPr wrap="square" lIns="0" rIns="0" tIns="0" bIns="0">
            <a:spAutoFit/>
          </a:bodyPr>
          <a:lstStyle/>
          <a:p>
            <a:pPr>
              <a:defRPr sz="850" b="1">
                <a:solidFill>
                  <a:srgbClr val="F59E0B"/>
                </a:solidFill>
              </a:defRPr>
            </a:pPr>
            <a:r>
              <a:t>PHASE 02: MONTH 2</a:t>
            </a:r>
          </a:p>
          <a:p>
            <a:pPr>
              <a:spcBef>
                <a:spcPts val="300"/>
              </a:spcBef>
              <a:spcAft>
                <a:spcPts val="800"/>
              </a:spcAft>
              <a:defRPr sz="1250" b="1">
                <a:solidFill>
                  <a:srgbClr val="F8FAFC"/>
                </a:solidFill>
              </a:defRPr>
            </a:pPr>
            <a:r>
              <a:t>Franchise Launch &amp; Automation</a:t>
            </a:r>
          </a:p>
          <a:p>
            <a:pPr>
              <a:defRPr sz="850" b="1">
                <a:solidFill>
                  <a:srgbClr val="38BDF8"/>
                </a:solidFill>
              </a:defRPr>
            </a:pPr>
            <a:r>
              <a:t>OPERATIONAL ACTIONS:</a:t>
            </a:r>
          </a:p>
          <a:p>
            <a:pPr>
              <a:spcBef>
                <a:spcPts val="200"/>
              </a:spcBef>
              <a:spcAft>
                <a:spcPts val="800"/>
              </a:spcAft>
              <a:defRPr sz="850">
                <a:solidFill>
                  <a:srgbClr val="CBD5E1"/>
                </a:solidFill>
              </a:defRPr>
            </a:pPr>
            <a:r>
              <a:t>• Launch 3 standardized 1–5 min repeatable franchise templates for upcoming series.</a:t>
            </a:r>
            <a:br/>
            <a:r>
              <a:t>• Deploy automated vertical short slicing pipeline from master video files.</a:t>
            </a:r>
            <a:br/>
            <a:r>
              <a:t>• Integrate dynamic deep-link attribution tracking in descriptions &amp; pinned comments.</a:t>
            </a:r>
            <a:br/>
            <a:r>
              <a:t>• Establish A/B thumbnail testing protocol.</a:t>
            </a:r>
          </a:p>
          <a:p>
            <a:pPr>
              <a:defRPr sz="850" b="1">
                <a:solidFill>
                  <a:srgbClr val="F59E0B"/>
                </a:solidFill>
              </a:defRPr>
            </a:pPr>
            <a:r>
              <a:t>OWNERSHIP &amp; GOVERNANCE:</a:t>
            </a:r>
          </a:p>
          <a:p>
            <a:pPr>
              <a:spcBef>
                <a:spcPts val="200"/>
              </a:spcBef>
              <a:spcAft>
                <a:spcPts val="800"/>
              </a:spcAft>
              <a:defRPr sz="850">
                <a:solidFill>
                  <a:srgbClr val="CBD5E1"/>
                </a:solidFill>
              </a:defRPr>
            </a:pPr>
            <a:r>
              <a:t>• Primary Owner: Creative Director &amp; Growth Marketing Lead</a:t>
            </a:r>
            <a:br/>
            <a:r>
              <a:t>• Decision Gate 2: CMO &amp; CCO review of initial franchise pilot metrics.</a:t>
            </a:r>
          </a:p>
          <a:p>
            <a:pPr>
              <a:defRPr sz="850" b="1">
                <a:solidFill>
                  <a:srgbClr val="10B981"/>
                </a:solidFill>
              </a:defRPr>
            </a:pPr>
            <a:r>
              <a:t>EXIT MILESTONE:</a:t>
            </a:r>
          </a:p>
          <a:p>
            <a:pPr>
              <a:spcBef>
                <a:spcPts val="200"/>
              </a:spcBef>
              <a:defRPr sz="880" b="1">
                <a:solidFill>
                  <a:srgbClr val="F8FAFC"/>
                </a:solidFill>
              </a:defRPr>
            </a:pPr>
            <a:r>
              <a:t>✓ First 12 franchise episodes live with deep-link attribution.</a:t>
            </a:r>
          </a:p>
        </p:txBody>
      </p:sp>
      <p:sp>
        <p:nvSpPr>
          <p:cNvPr id="10" name="Rounded Rectangle 9"/>
          <p:cNvSpPr/>
          <p:nvPr/>
        </p:nvSpPr>
        <p:spPr>
          <a:xfrm>
            <a:off x="8046720" y="1600200"/>
            <a:ext cx="3401568" cy="27432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1783080"/>
            <a:ext cx="2999232" cy="2377440"/>
          </a:xfrm>
          <a:prstGeom prst="rect">
            <a:avLst/>
          </a:prstGeom>
          <a:noFill/>
        </p:spPr>
        <p:txBody>
          <a:bodyPr wrap="square" lIns="0" rIns="0" tIns="0" bIns="0">
            <a:spAutoFit/>
          </a:bodyPr>
          <a:lstStyle/>
          <a:p>
            <a:pPr>
              <a:defRPr sz="850" b="1">
                <a:solidFill>
                  <a:srgbClr val="10B981"/>
                </a:solidFill>
              </a:defRPr>
            </a:pPr>
            <a:r>
              <a:t>PHASE 03: MONTH 3</a:t>
            </a:r>
          </a:p>
          <a:p>
            <a:pPr>
              <a:spcBef>
                <a:spcPts val="300"/>
              </a:spcBef>
              <a:spcAft>
                <a:spcPts val="800"/>
              </a:spcAft>
              <a:defRPr sz="1250" b="1">
                <a:solidFill>
                  <a:srgbClr val="F8FAFC"/>
                </a:solidFill>
              </a:defRPr>
            </a:pPr>
            <a:r>
              <a:t>Commercial Scale &amp; Attribution</a:t>
            </a:r>
          </a:p>
          <a:p>
            <a:pPr>
              <a:defRPr sz="850" b="1">
                <a:solidFill>
                  <a:srgbClr val="38BDF8"/>
                </a:solidFill>
              </a:defRPr>
            </a:pPr>
            <a:r>
              <a:t>OPERATIONAL ACTIONS:</a:t>
            </a:r>
          </a:p>
          <a:p>
            <a:pPr>
              <a:spcBef>
                <a:spcPts val="200"/>
              </a:spcBef>
              <a:spcAft>
                <a:spcPts val="800"/>
              </a:spcAft>
              <a:defRPr sz="850">
                <a:solidFill>
                  <a:srgbClr val="CBD5E1"/>
                </a:solidFill>
              </a:defRPr>
            </a:pPr>
            <a:r>
              <a:t>• Connect YouTube viewer cohorts directly to Netflix OTT sign-up telemetry.</a:t>
            </a:r>
            <a:br/>
            <a:r>
              <a:t>• Activate Power BI executive reporting suite with weekly anomaly alerts.</a:t>
            </a:r>
            <a:br/>
            <a:r>
              <a:t>• Transition studio workflow: 60% bandwidth locked on Tier 1 clips.</a:t>
            </a:r>
            <a:br/>
            <a:r>
              <a:t>• Conduct full quarterly financial audit of organic CAC reduction.</a:t>
            </a:r>
          </a:p>
          <a:p>
            <a:pPr>
              <a:defRPr sz="850" b="1">
                <a:solidFill>
                  <a:srgbClr val="F59E0B"/>
                </a:solidFill>
              </a:defRPr>
            </a:pPr>
            <a:r>
              <a:t>OWNERSHIP &amp; GOVERNANCE:</a:t>
            </a:r>
          </a:p>
          <a:p>
            <a:pPr>
              <a:spcBef>
                <a:spcPts val="200"/>
              </a:spcBef>
              <a:spcAft>
                <a:spcPts val="800"/>
              </a:spcAft>
              <a:defRPr sz="850">
                <a:solidFill>
                  <a:srgbClr val="CBD5E1"/>
                </a:solidFill>
              </a:defRPr>
            </a:pPr>
            <a:r>
              <a:t>• Primary Owner: Lead Analytics Architect &amp; Commercial Finance Director</a:t>
            </a:r>
            <a:br/>
            <a:r>
              <a:t>• Decision Gate 3: CEO &amp; Board review of Q1 conversion results.</a:t>
            </a:r>
          </a:p>
          <a:p>
            <a:pPr>
              <a:defRPr sz="850" b="1">
                <a:solidFill>
                  <a:srgbClr val="10B981"/>
                </a:solidFill>
              </a:defRPr>
            </a:pPr>
            <a:r>
              <a:t>EXIT MILESTONE:</a:t>
            </a:r>
          </a:p>
          <a:p>
            <a:pPr>
              <a:spcBef>
                <a:spcPts val="200"/>
              </a:spcBef>
              <a:defRPr sz="880" b="1">
                <a:solidFill>
                  <a:srgbClr val="F8FAFC"/>
                </a:solidFill>
              </a:defRPr>
            </a:pPr>
            <a:r>
              <a:t>✓ Full attribution model operational; ₹22.4M run-rate locked.</a:t>
            </a:r>
          </a:p>
        </p:txBody>
      </p:sp>
      <p:sp>
        <p:nvSpPr>
          <p:cNvPr id="12" name="Rounded Rectangle 11"/>
          <p:cNvSpPr/>
          <p:nvPr/>
        </p:nvSpPr>
        <p:spPr>
          <a:xfrm>
            <a:off x="731520" y="5715000"/>
            <a:ext cx="10728655" cy="685800"/>
          </a:xfrm>
          <a:prstGeom prst="roundRect">
            <a:avLst/>
          </a:prstGeom>
          <a:solidFill>
            <a:srgbClr val="131B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779008"/>
            <a:ext cx="10271455" cy="548640"/>
          </a:xfrm>
          <a:prstGeom prst="rect">
            <a:avLst/>
          </a:prstGeom>
          <a:noFill/>
        </p:spPr>
        <p:txBody>
          <a:bodyPr wrap="square" lIns="0" rIns="0" tIns="0" bIns="0">
            <a:spAutoFit/>
          </a:bodyPr>
          <a:lstStyle/>
          <a:p>
            <a:pPr>
              <a:defRPr sz="850" b="1">
                <a:solidFill>
                  <a:srgbClr val="F59E0B"/>
                </a:solidFill>
              </a:defRPr>
            </a:pPr>
            <a:r>
              <a:t>BOARD DECISION MANDATE &amp; IMMEDIATE NEXT STEPS (ACTION REQUIRED TODAY)</a:t>
            </a:r>
          </a:p>
          <a:p>
            <a:pPr>
              <a:spcBef>
                <a:spcPts val="200"/>
              </a:spcBef>
              <a:defRPr sz="1050" b="1">
                <a:solidFill>
                  <a:srgbClr val="F8FAFC"/>
                </a:solidFill>
              </a:defRPr>
            </a:pPr>
            <a:r>
              <a:t>Authorize immediate reallocation of 60% video production budget from volume churn to high-yield 1–5 min franchise formats, approve 90-day execution milestones, and mandate automated attribution reporting.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